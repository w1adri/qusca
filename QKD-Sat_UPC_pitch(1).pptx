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 (%)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33405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7D3E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7D3E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DD4B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Educational Return</c:v>
                  </c:pt>
                  <c:pt idx="1">
                    <c:v>Quality of project</c:v>
                  </c:pt>
                  <c:pt idx="2">
                    <c:v>Mission Objectives</c:v>
                  </c:pt>
                  <c:pt idx="3">
                    <c:v>Team &amp; Organisation</c:v>
                  </c:pt>
                  <c:pt idx="4">
                    <c:v>Resilience/Nav (bonus)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30</c:v>
                </c:pt>
                <c:pt idx="2">
                  <c:v>20</c:v>
                </c:pt>
                <c:pt idx="3">
                  <c:v>20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33405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33405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5-1.png"/><Relationship Id="rId3" Type="http://schemas.openxmlformats.org/officeDocument/2006/relationships/image" Target="../media/image-15-2.png"/><Relationship Id="rId4" Type="http://schemas.openxmlformats.org/officeDocument/2006/relationships/image" Target="../media/image-15-3.png"/><Relationship Id="rId5" Type="http://schemas.openxmlformats.org/officeDocument/2006/relationships/image" Target="../media/image-15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39728" y="1051560"/>
            <a:ext cx="109728" cy="109728"/>
          </a:xfrm>
          <a:prstGeom prst="ellipse">
            <a:avLst/>
          </a:prstGeom>
          <a:solidFill>
            <a:srgbClr val="27D3EE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868912" y="2286000"/>
            <a:ext cx="77724" cy="77724"/>
          </a:xfrm>
          <a:prstGeom prst="ellipse">
            <a:avLst/>
          </a:prstGeom>
          <a:solidFill>
            <a:srgbClr val="27D3EE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503152" y="3611880"/>
            <a:ext cx="100584" cy="100584"/>
          </a:xfrm>
          <a:prstGeom prst="ellipse">
            <a:avLst/>
          </a:prstGeom>
          <a:solidFill>
            <a:srgbClr val="27D3EE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841480" y="4800600"/>
            <a:ext cx="77724" cy="77724"/>
          </a:xfrm>
          <a:prstGeom prst="ellipse">
            <a:avLst/>
          </a:prstGeom>
          <a:solidFill>
            <a:srgbClr val="27D3EE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3291840"/>
            <a:ext cx="91440" cy="91440"/>
          </a:xfrm>
          <a:prstGeom prst="ellipse">
            <a:avLst/>
          </a:prstGeom>
          <a:solidFill>
            <a:srgbClr val="27D3EE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10896" y="4846320"/>
            <a:ext cx="73152" cy="73152"/>
          </a:xfrm>
          <a:prstGeom prst="ellipse">
            <a:avLst/>
          </a:prstGeom>
          <a:solidFill>
            <a:srgbClr val="27D3EE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012680" y="420624"/>
            <a:ext cx="64008" cy="64008"/>
          </a:xfrm>
          <a:prstGeom prst="ellipse">
            <a:avLst/>
          </a:prstGeom>
          <a:solidFill>
            <a:srgbClr val="27D3EE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1078992"/>
            <a:ext cx="914400" cy="-365760"/>
          </a:xfrm>
          <a:prstGeom prst="line">
            <a:avLst/>
          </a:prstGeom>
          <a:noFill/>
          <a:ln w="12700">
            <a:solidFill>
              <a:srgbClr val="27D3EE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4630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7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 · EETAC  —  DOUBLE DEGREE: TELECOMMUNICATIONS + AEROSPACE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" y="1874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AA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UPC association to space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41248" y="233172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Quantum Satellite</a:t>
            </a:r>
            <a:pPr indent="0" marL="0">
              <a:lnSpc>
                <a:spcPts val="56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ESA's</a:t>
            </a:r>
            <a:pPr indent="0" marL="0">
              <a:lnSpc>
                <a:spcPts val="5600"/>
              </a:lnSpc>
              <a:buNone/>
            </a:pPr>
            <a:endParaRPr lang="en-US" sz="52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200" b="1" dirty="0">
                <a:solidFill>
                  <a:srgbClr val="27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 Your Satellite!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868680" y="425196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a Satellite-Communications association at UPC to design a BB84 + decoy-state CubeSat — and fly it with the European Space Agency.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68680" y="5349240"/>
            <a:ext cx="457200" cy="457200"/>
          </a:xfrm>
          <a:prstGeom prst="ellipse">
            <a:avLst/>
          </a:prstGeom>
          <a:solidFill>
            <a:srgbClr val="151E45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5468112"/>
            <a:ext cx="219456" cy="219456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1463040" y="5349240"/>
            <a:ext cx="457200" cy="457200"/>
          </a:xfrm>
          <a:prstGeom prst="ellipse">
            <a:avLst/>
          </a:prstGeom>
          <a:solidFill>
            <a:srgbClr val="151E45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912" y="5468112"/>
            <a:ext cx="219456" cy="21945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2057400" y="5349240"/>
            <a:ext cx="457200" cy="457200"/>
          </a:xfrm>
          <a:prstGeom prst="ellipse">
            <a:avLst/>
          </a:prstGeom>
          <a:solidFill>
            <a:srgbClr val="151E4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272" y="5468112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743200" y="5394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pitch — Oscar · Toni · Jairo · +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766560" y="5394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Design Booster 3  ·  deadline 2 Oct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I'M PROPOSING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moves, one goal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520440" cy="4069080"/>
          </a:xfrm>
          <a:prstGeom prst="roundRect">
            <a:avLst>
              <a:gd name="adj" fmla="val 2338"/>
            </a:avLst>
          </a:prstGeom>
          <a:solidFill>
            <a:srgbClr val="F2F0FF"/>
          </a:solidFill>
          <a:ln/>
          <a:effectLst>
            <a:outerShdw sx="100000" sy="100000" kx="0" ky="0" algn="bl" rotWithShape="0" blurRad="114300" dist="38100" dir="5400000">
              <a:srgbClr val="1A214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011680"/>
            <a:ext cx="713232" cy="7132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408" y="2197120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9536" y="28803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Found the association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59536" y="352044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UPC student association focused on Satellite / Space Communications. It gives us a legal identity, access to UPC labs, funding and space, and a banner to recruit under.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334256" y="1691640"/>
            <a:ext cx="3520440" cy="4069080"/>
          </a:xfrm>
          <a:prstGeom prst="roundRect">
            <a:avLst>
              <a:gd name="adj" fmla="val 2338"/>
            </a:avLst>
          </a:prstGeom>
          <a:solidFill>
            <a:srgbClr val="ECFEFF"/>
          </a:solidFill>
          <a:ln/>
          <a:effectLst>
            <a:outerShdw sx="100000" sy="100000" kx="0" ky="0" algn="bl" rotWithShape="0" blurRad="114300" dist="38100" dir="5400000">
              <a:srgbClr val="1A214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54296" y="2011680"/>
            <a:ext cx="713232" cy="7132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736" y="2197120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26864" y="28803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Design a quantum CubeSat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26864" y="352044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3U CubeSat doing Quantum Key Distribution — BB84 with decoy states. Feasible, already proven in Europe, and not yet done by anyone in Spain.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8101584" y="1691640"/>
            <a:ext cx="3520440" cy="4069080"/>
          </a:xfrm>
          <a:prstGeom prst="roundRect">
            <a:avLst>
              <a:gd name="adj" fmla="val 2338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14300" dist="38100" dir="5400000">
              <a:srgbClr val="1A214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21624" y="2011680"/>
            <a:ext cx="713232" cy="7132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7064" y="2197120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94192" y="28803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Take it to ESA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394192" y="352044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it to ESA's Fly Your Satellite! Design Booster — 1.5 years of expert mentoring, test facilities, and the on-ramp to a sponsored launch.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566928" y="5897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thesis:  </a:t>
            </a:r>
            <a:pPr indent="0" marL="0">
              <a:buNone/>
            </a:pPr>
            <a:r>
              <a:rPr lang="en-US" sz="1450" dirty="0">
                <a:solidFill>
                  <a:srgbClr val="111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timely, fundable idea + UPC and ESA backing = a project that gets selected, builds real space hardware, and puts our names on papers and on ESA's radar.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QKD-Sat · UPC EETAC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“Satellite Communications”, not “space”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14300" dist="38100" dir="5400000">
              <a:srgbClr val="1A214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640080" cy="640080"/>
          </a:xfrm>
          <a:prstGeom prst="ellipse">
            <a:avLst/>
          </a:prstGeom>
          <a:solidFill>
            <a:srgbClr val="F2F0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217810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27632" y="20756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lane nobody else owns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74320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Terrassa already has a strong, recognised space association with more experience — competing head-on (rockets, generic “space”) means we lose.</a:t>
            </a:r>
            <a:endParaRPr lang="en-US" sz="1400" dirty="0"/>
          </a:p>
          <a:p>
            <a:pPr marL="203200" indent="-2032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also another satellite group inside the EETAC. A pure “satellites” framing overlaps with them.</a:t>
            </a:r>
            <a:endParaRPr lang="en-US" sz="1400" dirty="0"/>
          </a:p>
          <a:p>
            <a:pPr marL="203200" indent="-2032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Communications is our distinct niche: it avoids fighting them for the same funding and members, and it's exactly where our Telecom + Aerospace double degree is strongest.</a:t>
            </a:r>
            <a:endParaRPr lang="en-US" sz="1400" dirty="0"/>
          </a:p>
          <a:p>
            <a:pPr marL="203200" indent="-2032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broad on purpose — it covers quantum links, classical optical links, RF, Earth-observation downlinks and space debris, so the association can evolve far beyond the first mission.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55080" y="1737360"/>
            <a:ext cx="5285232" cy="4206240"/>
          </a:xfrm>
          <a:prstGeom prst="roundRect">
            <a:avLst>
              <a:gd name="adj" fmla="val 1957"/>
            </a:avLst>
          </a:prstGeom>
          <a:solidFill>
            <a:srgbClr val="ECFEFF"/>
          </a:solidFill>
          <a:ln/>
          <a:effectLst>
            <a:outerShdw sx="100000" sy="100000" kx="0" ky="0" algn="bl" rotWithShape="0" blurRad="114300" dist="38100" dir="5400000">
              <a:srgbClr val="1A214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675120" y="2011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umbrella keeps us safe and flexible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675120" y="26060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5879" y="273679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96912" y="25877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communications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296912" y="2880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flagship — QKD / BB84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675120" y="3392424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5879" y="3523183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296912" y="337413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optical comms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296912" y="36667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Free-space laser downlinks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675120" y="417880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5879" y="4309567"/>
            <a:ext cx="241402" cy="24140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96912" y="41605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&amp; Earth-observation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296912" y="44531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Telemetry, imaging downlinks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6675120" y="496519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5879" y="5095951"/>
            <a:ext cx="241402" cy="24140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296912" y="494690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Space-debris &amp; new ideas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7296912" y="52395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to pivot as we grow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QKD-Sat · UPC EETAC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39728" y="1051560"/>
            <a:ext cx="109728" cy="109728"/>
          </a:xfrm>
          <a:prstGeom prst="ellipse">
            <a:avLst/>
          </a:prstGeom>
          <a:solidFill>
            <a:srgbClr val="27D3EE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868912" y="2286000"/>
            <a:ext cx="77724" cy="77724"/>
          </a:xfrm>
          <a:prstGeom prst="ellipse">
            <a:avLst/>
          </a:prstGeom>
          <a:solidFill>
            <a:srgbClr val="27D3EE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503152" y="3611880"/>
            <a:ext cx="100584" cy="100584"/>
          </a:xfrm>
          <a:prstGeom prst="ellipse">
            <a:avLst/>
          </a:prstGeom>
          <a:solidFill>
            <a:srgbClr val="27D3EE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841480" y="4800600"/>
            <a:ext cx="77724" cy="77724"/>
          </a:xfrm>
          <a:prstGeom prst="ellipse">
            <a:avLst/>
          </a:prstGeom>
          <a:solidFill>
            <a:srgbClr val="27D3EE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3291840"/>
            <a:ext cx="91440" cy="91440"/>
          </a:xfrm>
          <a:prstGeom prst="ellipse">
            <a:avLst/>
          </a:prstGeom>
          <a:solidFill>
            <a:srgbClr val="27D3EE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10896" y="4846320"/>
            <a:ext cx="73152" cy="73152"/>
          </a:xfrm>
          <a:prstGeom prst="ellipse">
            <a:avLst/>
          </a:prstGeom>
          <a:solidFill>
            <a:srgbClr val="27D3EE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012680" y="420624"/>
            <a:ext cx="64008" cy="64008"/>
          </a:xfrm>
          <a:prstGeom prst="ellipse">
            <a:avLst/>
          </a:prstGeom>
          <a:solidFill>
            <a:srgbClr val="27D3EE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7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MISSION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quantum CubeSat: BB84 + decoy states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566928" y="16002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Key Distribution sends an encryption key encoded on single photons. The laws of physics guarantee that any eavesdropper is detected — the security doesn't depend on a hard maths problem, so a future quantum computer can't break it.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" y="2514600"/>
            <a:ext cx="5321808" cy="1463040"/>
          </a:xfrm>
          <a:prstGeom prst="roundRect">
            <a:avLst>
              <a:gd name="adj" fmla="val 5625"/>
            </a:avLst>
          </a:prstGeom>
          <a:solidFill>
            <a:srgbClr val="151E45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2770632"/>
            <a:ext cx="640080" cy="640080"/>
          </a:xfrm>
          <a:prstGeom prst="ellipse">
            <a:avLst/>
          </a:prstGeom>
          <a:solidFill>
            <a:srgbClr val="0B1437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937053"/>
            <a:ext cx="307238" cy="30723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618488" y="27157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Easiest QKD to build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1618488" y="308152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8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weak-coherent-pulse (WCP) laser, not a fragile entangled-photon source.</a:t>
            </a:r>
            <a:endParaRPr lang="en-US" sz="1280" dirty="0"/>
          </a:p>
        </p:txBody>
      </p:sp>
      <p:sp>
        <p:nvSpPr>
          <p:cNvPr id="17" name="Shape 14"/>
          <p:cNvSpPr/>
          <p:nvPr/>
        </p:nvSpPr>
        <p:spPr>
          <a:xfrm>
            <a:off x="6126480" y="2514600"/>
            <a:ext cx="5321808" cy="1463040"/>
          </a:xfrm>
          <a:prstGeom prst="roundRect">
            <a:avLst>
              <a:gd name="adj" fmla="val 5625"/>
            </a:avLst>
          </a:prstGeom>
          <a:solidFill>
            <a:srgbClr val="151E45"/>
          </a:solidFill>
          <a:ln/>
        </p:spPr>
      </p:sp>
      <p:sp>
        <p:nvSpPr>
          <p:cNvPr id="18" name="Shape 15"/>
          <p:cNvSpPr/>
          <p:nvPr/>
        </p:nvSpPr>
        <p:spPr>
          <a:xfrm>
            <a:off x="6382512" y="2770632"/>
            <a:ext cx="640080" cy="640080"/>
          </a:xfrm>
          <a:prstGeom prst="ellipse">
            <a:avLst/>
          </a:prstGeom>
          <a:solidFill>
            <a:srgbClr val="0B1437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933" y="2937053"/>
            <a:ext cx="307238" cy="30723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178040" y="27157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Decoy states close the loophole</a:t>
            </a:r>
            <a:endParaRPr lang="en-US" sz="1550" dirty="0"/>
          </a:p>
        </p:txBody>
      </p:sp>
      <p:sp>
        <p:nvSpPr>
          <p:cNvPr id="21" name="Text 17"/>
          <p:cNvSpPr/>
          <p:nvPr/>
        </p:nvSpPr>
        <p:spPr>
          <a:xfrm>
            <a:off x="7178040" y="308152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8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defeat photon-number-splitting attacks and restore full security with a simple laser.</a:t>
            </a:r>
            <a:endParaRPr lang="en-US" sz="1280" dirty="0"/>
          </a:p>
        </p:txBody>
      </p:sp>
      <p:sp>
        <p:nvSpPr>
          <p:cNvPr id="22" name="Shape 18"/>
          <p:cNvSpPr/>
          <p:nvPr/>
        </p:nvSpPr>
        <p:spPr>
          <a:xfrm>
            <a:off x="566928" y="4142232"/>
            <a:ext cx="5321808" cy="1463040"/>
          </a:xfrm>
          <a:prstGeom prst="roundRect">
            <a:avLst>
              <a:gd name="adj" fmla="val 5625"/>
            </a:avLst>
          </a:prstGeom>
          <a:solidFill>
            <a:srgbClr val="151E45"/>
          </a:solidFill>
          <a:ln/>
        </p:spPr>
      </p:sp>
      <p:sp>
        <p:nvSpPr>
          <p:cNvPr id="23" name="Shape 19"/>
          <p:cNvSpPr/>
          <p:nvPr/>
        </p:nvSpPr>
        <p:spPr>
          <a:xfrm>
            <a:off x="822960" y="4398264"/>
            <a:ext cx="640080" cy="640080"/>
          </a:xfrm>
          <a:prstGeom prst="ellipse">
            <a:avLst/>
          </a:prstGeom>
          <a:solidFill>
            <a:srgbClr val="0B1437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4564685"/>
            <a:ext cx="307238" cy="30723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618488" y="4343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 a 3U CubeSat</a:t>
            </a:r>
            <a:endParaRPr lang="en-US" sz="1550" dirty="0"/>
          </a:p>
        </p:txBody>
      </p:sp>
      <p:sp>
        <p:nvSpPr>
          <p:cNvPr id="26" name="Text 21"/>
          <p:cNvSpPr/>
          <p:nvPr/>
        </p:nvSpPr>
        <p:spPr>
          <a:xfrm>
            <a:off x="1618488" y="47091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8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payload + optical terminal in ~1U; the rest is platform — the DB3 form factor we'd target.</a:t>
            </a:r>
            <a:endParaRPr lang="en-US" sz="1280" dirty="0"/>
          </a:p>
        </p:txBody>
      </p:sp>
      <p:sp>
        <p:nvSpPr>
          <p:cNvPr id="27" name="Shape 22"/>
          <p:cNvSpPr/>
          <p:nvPr/>
        </p:nvSpPr>
        <p:spPr>
          <a:xfrm>
            <a:off x="6126480" y="4142232"/>
            <a:ext cx="5321808" cy="1463040"/>
          </a:xfrm>
          <a:prstGeom prst="roundRect">
            <a:avLst>
              <a:gd name="adj" fmla="val 5625"/>
            </a:avLst>
          </a:prstGeom>
          <a:solidFill>
            <a:srgbClr val="151E45"/>
          </a:solidFill>
          <a:ln/>
        </p:spPr>
      </p:sp>
      <p:sp>
        <p:nvSpPr>
          <p:cNvPr id="28" name="Shape 23"/>
          <p:cNvSpPr/>
          <p:nvPr/>
        </p:nvSpPr>
        <p:spPr>
          <a:xfrm>
            <a:off x="6382512" y="4398264"/>
            <a:ext cx="640080" cy="640080"/>
          </a:xfrm>
          <a:prstGeom prst="ellipse">
            <a:avLst/>
          </a:prstGeom>
          <a:solidFill>
            <a:srgbClr val="0B1437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8933" y="4564685"/>
            <a:ext cx="307238" cy="30723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178040" y="4343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proven in orbit</a:t>
            </a:r>
            <a:endParaRPr lang="en-US" sz="1550" dirty="0"/>
          </a:p>
        </p:txBody>
      </p:sp>
      <p:sp>
        <p:nvSpPr>
          <p:cNvPr id="31" name="Text 25"/>
          <p:cNvSpPr/>
          <p:nvPr/>
        </p:nvSpPr>
        <p:spPr>
          <a:xfrm>
            <a:off x="7178040" y="47091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8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science fiction — it has flown. We adapt a known recipe instead of inventing one.</a:t>
            </a:r>
            <a:endParaRPr lang="en-US" sz="1280" dirty="0"/>
          </a:p>
        </p:txBody>
      </p:sp>
      <p:sp>
        <p:nvSpPr>
          <p:cNvPr id="32" name="Text 26"/>
          <p:cNvSpPr/>
          <p:nvPr/>
        </p:nvSpPr>
        <p:spPr>
          <a:xfrm>
            <a:off x="566928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Protocol: BB84 (Bennett &amp; Brassard) + decoy-state method — the workhorse of practical, real-world QKD.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QKD-Sat · UPC EETAC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— IT HAS ALREADY FLOWN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Germany's QUBE proves the concept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QUBE is a 3U CubeSat that launched on a SpaceX Falcon 9 rideshare in August 2024 to test QKD components in orbit — a quantum random number generator, a BB84 source and an optical downlink to a ground station. Its successor QUBE-II is already in development.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697480"/>
            <a:ext cx="2578608" cy="2286000"/>
          </a:xfrm>
          <a:prstGeom prst="roundRect">
            <a:avLst>
              <a:gd name="adj" fmla="val 36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14300" dist="38100" dir="5400000">
              <a:srgbClr val="1A214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907792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27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3U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49808" y="3822192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CubeSat form factor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4160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× 10 × 30 cm — same class we'd build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55848" y="2697480"/>
            <a:ext cx="2578608" cy="2286000"/>
          </a:xfrm>
          <a:prstGeom prst="roundRect">
            <a:avLst>
              <a:gd name="adj" fmla="val 36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14300" dist="38100" dir="5400000">
              <a:srgbClr val="1A214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0440" y="2907792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27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3.53 kg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3538728" y="3822192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mass in orbit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538728" y="4160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the Center for Telematics (DE)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44768" y="2697480"/>
            <a:ext cx="2578608" cy="2286000"/>
          </a:xfrm>
          <a:prstGeom prst="roundRect">
            <a:avLst>
              <a:gd name="adj" fmla="val 36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14300" dist="38100" dir="5400000">
              <a:srgbClr val="1A214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2907792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27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6327648" y="3822192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launched &amp; operating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327648" y="4160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BB84 source + QRNG + DLR-OSIRIS optical link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33688" y="2697480"/>
            <a:ext cx="2578608" cy="2286000"/>
          </a:xfrm>
          <a:prstGeom prst="roundRect">
            <a:avLst>
              <a:gd name="adj" fmla="val 3600"/>
            </a:avLst>
          </a:prstGeom>
          <a:solidFill>
            <a:srgbClr val="F2F0FF"/>
          </a:solidFill>
          <a:ln/>
          <a:effectLst>
            <a:outerShdw sx="100000" sy="100000" kx="0" ky="0" algn="bl" rotWithShape="0" blurRad="114300" dist="38100" dir="5400000">
              <a:srgbClr val="1A214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098280" y="2907792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9116568" y="3822192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Spanish quantum sats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116568" y="4160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Spanish QKD satellite exists yet — we'd be first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5257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Take-away:  </a:t>
            </a:r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11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question “can a student-class 3U even do QKD?” is already answered — yes. Our risk is engineering, not physics. And being the first in Spain is a headline in itself.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66928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SpaceNews; The Quantum Insider; DLR / LMU / MPL QUBE &amp; QUBE-II publications (2022–2025).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QKD-Sat · UPC EETAC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CONTRIBUTION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copy QUBE — we push it further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scores “mission objectives” and “novelty”. A pure repeat won't win; here is where real research and theses live.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194560"/>
            <a:ext cx="3520440" cy="1664208"/>
          </a:xfrm>
          <a:prstGeom prst="roundRect">
            <a:avLst>
              <a:gd name="adj" fmla="val 4945"/>
            </a:avLst>
          </a:prstGeom>
          <a:solidFill>
            <a:srgbClr val="ECFEFF"/>
          </a:solidFill>
          <a:ln/>
          <a:effectLst>
            <a:outerShdw sx="100000" sy="100000" kx="0" ky="0" algn="bl" rotWithShape="0" blurRad="114300" dist="38100" dir="5400000">
              <a:srgbClr val="1A214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4688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649" y="261628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27048" y="24688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optical link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59536" y="3090672"/>
            <a:ext cx="2971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3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larger telescope / aperture to improve the downlink budget and key rate.</a:t>
            </a:r>
            <a:endParaRPr lang="en-US" sz="1230" dirty="0"/>
          </a:p>
        </p:txBody>
      </p:sp>
      <p:sp>
        <p:nvSpPr>
          <p:cNvPr id="10" name="Shape 7"/>
          <p:cNvSpPr/>
          <p:nvPr/>
        </p:nvSpPr>
        <p:spPr>
          <a:xfrm>
            <a:off x="4334256" y="2194560"/>
            <a:ext cx="3520440" cy="1664208"/>
          </a:xfrm>
          <a:prstGeom prst="roundRect">
            <a:avLst>
              <a:gd name="adj" fmla="val 4945"/>
            </a:avLst>
          </a:prstGeom>
          <a:solidFill>
            <a:srgbClr val="F2F0FF"/>
          </a:solidFill>
          <a:ln/>
          <a:effectLst>
            <a:outerShdw sx="100000" sy="100000" kx="0" ky="0" algn="bl" rotWithShape="0" blurRad="114300" dist="38100" dir="5400000">
              <a:srgbClr val="1A214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08576" y="24688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5977" y="2616281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94376" y="24688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 system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26864" y="3090672"/>
            <a:ext cx="2971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3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Sharper pointing, acquisition &amp; tracking — the make-or-break subsystem for any QKD CubeSat.</a:t>
            </a:r>
            <a:endParaRPr lang="en-US" sz="1230" dirty="0"/>
          </a:p>
        </p:txBody>
      </p:sp>
      <p:sp>
        <p:nvSpPr>
          <p:cNvPr id="15" name="Shape 11"/>
          <p:cNvSpPr/>
          <p:nvPr/>
        </p:nvSpPr>
        <p:spPr>
          <a:xfrm>
            <a:off x="8101584" y="2194560"/>
            <a:ext cx="3520440" cy="1664208"/>
          </a:xfrm>
          <a:prstGeom prst="roundRect">
            <a:avLst>
              <a:gd name="adj" fmla="val 4945"/>
            </a:avLst>
          </a:prstGeom>
          <a:solidFill>
            <a:srgbClr val="ECFEFF"/>
          </a:solidFill>
          <a:ln/>
          <a:effectLst>
            <a:outerShdw sx="100000" sy="100000" kx="0" ky="0" algn="bl" rotWithShape="0" blurRad="114300" dist="38100" dir="5400000">
              <a:srgbClr val="1A214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75904" y="24688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305" y="2616281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61704" y="24688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optics &amp; components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94192" y="3090672"/>
            <a:ext cx="2971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3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Swap, test and characterise alternative optical components and the decoy-state source.</a:t>
            </a:r>
            <a:endParaRPr lang="en-US" sz="1230" dirty="0"/>
          </a:p>
        </p:txBody>
      </p:sp>
      <p:sp>
        <p:nvSpPr>
          <p:cNvPr id="20" name="Shape 15"/>
          <p:cNvSpPr/>
          <p:nvPr/>
        </p:nvSpPr>
        <p:spPr>
          <a:xfrm>
            <a:off x="566928" y="4069080"/>
            <a:ext cx="3520440" cy="1664208"/>
          </a:xfrm>
          <a:prstGeom prst="roundRect">
            <a:avLst>
              <a:gd name="adj" fmla="val 4945"/>
            </a:avLst>
          </a:prstGeom>
          <a:solidFill>
            <a:srgbClr val="F2F0FF"/>
          </a:solidFill>
          <a:ln/>
          <a:effectLst>
            <a:outerShdw sx="100000" sy="100000" kx="0" ky="0" algn="bl" rotWithShape="0" blurRad="114300" dist="38100" dir="5400000">
              <a:srgbClr val="1A2140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41248" y="434340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649" y="4490801"/>
            <a:ext cx="272125" cy="2721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27048" y="43434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Miniaturisation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859536" y="4965192"/>
            <a:ext cx="2971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3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 the quantum payload — push toward smaller, cheaper, replicable units.</a:t>
            </a:r>
            <a:endParaRPr lang="en-US" sz="1230" dirty="0"/>
          </a:p>
        </p:txBody>
      </p:sp>
      <p:sp>
        <p:nvSpPr>
          <p:cNvPr id="25" name="Shape 19"/>
          <p:cNvSpPr/>
          <p:nvPr/>
        </p:nvSpPr>
        <p:spPr>
          <a:xfrm>
            <a:off x="4334256" y="4069080"/>
            <a:ext cx="3520440" cy="1664208"/>
          </a:xfrm>
          <a:prstGeom prst="roundRect">
            <a:avLst>
              <a:gd name="adj" fmla="val 4945"/>
            </a:avLst>
          </a:prstGeom>
          <a:solidFill>
            <a:srgbClr val="ECFEFF"/>
          </a:solidFill>
          <a:ln/>
          <a:effectLst>
            <a:outerShdw sx="100000" sy="100000" kx="0" ky="0" algn="bl" rotWithShape="0" blurRad="114300" dist="38100" dir="5400000">
              <a:srgbClr val="1A2140">
                <a:alpha val="13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08576" y="434340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5977" y="4490801"/>
            <a:ext cx="272125" cy="27212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94376" y="43434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Decoy-state optimisation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626864" y="4965192"/>
            <a:ext cx="2971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3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intensities &amp; protocol parameters for the LEO channel to maximise secure key.</a:t>
            </a:r>
            <a:endParaRPr lang="en-US" sz="1230" dirty="0"/>
          </a:p>
        </p:txBody>
      </p:sp>
      <p:sp>
        <p:nvSpPr>
          <p:cNvPr id="30" name="Shape 23"/>
          <p:cNvSpPr/>
          <p:nvPr/>
        </p:nvSpPr>
        <p:spPr>
          <a:xfrm>
            <a:off x="8101584" y="4069080"/>
            <a:ext cx="3520440" cy="1664208"/>
          </a:xfrm>
          <a:prstGeom prst="roundRect">
            <a:avLst>
              <a:gd name="adj" fmla="val 4945"/>
            </a:avLst>
          </a:prstGeom>
          <a:solidFill>
            <a:srgbClr val="F2F0FF"/>
          </a:solidFill>
          <a:ln/>
          <a:effectLst>
            <a:outerShdw sx="100000" sy="100000" kx="0" ky="0" algn="bl" rotWithShape="0" blurRad="114300" dist="38100" dir="5400000">
              <a:srgbClr val="1A2140">
                <a:alpha val="13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75904" y="434340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3305" y="4490801"/>
            <a:ext cx="272125" cy="27212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061704" y="43434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for new ideas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394192" y="4965192"/>
            <a:ext cx="2971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3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opens fresh sub-problems: imaging, debris, classical optical comms, RF.</a:t>
            </a:r>
            <a:endParaRPr lang="en-US" sz="1230" dirty="0"/>
          </a:p>
        </p:txBody>
      </p:sp>
      <p:sp>
        <p:nvSpPr>
          <p:cNvPr id="35" name="Text 27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QKD-Sat · UPC EETAC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39728" y="1051560"/>
            <a:ext cx="109728" cy="109728"/>
          </a:xfrm>
          <a:prstGeom prst="ellipse">
            <a:avLst/>
          </a:prstGeom>
          <a:solidFill>
            <a:srgbClr val="27D3EE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868912" y="2286000"/>
            <a:ext cx="77724" cy="77724"/>
          </a:xfrm>
          <a:prstGeom prst="ellipse">
            <a:avLst/>
          </a:prstGeom>
          <a:solidFill>
            <a:srgbClr val="27D3EE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503152" y="3611880"/>
            <a:ext cx="100584" cy="100584"/>
          </a:xfrm>
          <a:prstGeom prst="ellipse">
            <a:avLst/>
          </a:prstGeom>
          <a:solidFill>
            <a:srgbClr val="27D3EE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841480" y="4800600"/>
            <a:ext cx="77724" cy="77724"/>
          </a:xfrm>
          <a:prstGeom prst="ellipse">
            <a:avLst/>
          </a:prstGeom>
          <a:solidFill>
            <a:srgbClr val="27D3EE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3291840"/>
            <a:ext cx="91440" cy="91440"/>
          </a:xfrm>
          <a:prstGeom prst="ellipse">
            <a:avLst/>
          </a:prstGeom>
          <a:solidFill>
            <a:srgbClr val="27D3EE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10896" y="4846320"/>
            <a:ext cx="73152" cy="73152"/>
          </a:xfrm>
          <a:prstGeom prst="ellipse">
            <a:avLst/>
          </a:prstGeom>
          <a:solidFill>
            <a:srgbClr val="27D3EE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012680" y="420624"/>
            <a:ext cx="64008" cy="64008"/>
          </a:xfrm>
          <a:prstGeom prst="ellipse">
            <a:avLst/>
          </a:prstGeom>
          <a:solidFill>
            <a:srgbClr val="27D3EE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7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 is pouring money into exactly this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566928" y="1600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Quantum-secure communication is a top EU strategic priority. The wind is at our backs — funders, professors and ESA all want to be associated with this field right now.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" y="2423160"/>
            <a:ext cx="5321808" cy="1517904"/>
          </a:xfrm>
          <a:prstGeom prst="roundRect">
            <a:avLst>
              <a:gd name="adj" fmla="val 5422"/>
            </a:avLst>
          </a:prstGeom>
          <a:solidFill>
            <a:srgbClr val="151E45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2679192"/>
            <a:ext cx="603504" cy="603504"/>
          </a:xfrm>
          <a:prstGeom prst="ellipse">
            <a:avLst/>
          </a:prstGeom>
          <a:solidFill>
            <a:srgbClr val="0B1437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871" y="2836103"/>
            <a:ext cx="289682" cy="28968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72768" y="26060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EuroQCI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572768" y="297180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3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+ ESA are building a quantum-secure network across all 27 member states — a terrestrial segment plus a satellite segment.</a:t>
            </a:r>
            <a:endParaRPr lang="en-US" sz="1230" dirty="0"/>
          </a:p>
        </p:txBody>
      </p:sp>
      <p:sp>
        <p:nvSpPr>
          <p:cNvPr id="17" name="Shape 14"/>
          <p:cNvSpPr/>
          <p:nvPr/>
        </p:nvSpPr>
        <p:spPr>
          <a:xfrm>
            <a:off x="6126480" y="2423160"/>
            <a:ext cx="5321808" cy="1517904"/>
          </a:xfrm>
          <a:prstGeom prst="roundRect">
            <a:avLst>
              <a:gd name="adj" fmla="val 5422"/>
            </a:avLst>
          </a:prstGeom>
          <a:solidFill>
            <a:srgbClr val="151E45"/>
          </a:solidFill>
          <a:ln/>
        </p:spPr>
      </p:sp>
      <p:sp>
        <p:nvSpPr>
          <p:cNvPr id="18" name="Shape 15"/>
          <p:cNvSpPr/>
          <p:nvPr/>
        </p:nvSpPr>
        <p:spPr>
          <a:xfrm>
            <a:off x="6382512" y="2679192"/>
            <a:ext cx="603504" cy="603504"/>
          </a:xfrm>
          <a:prstGeom prst="ellipse">
            <a:avLst/>
          </a:prstGeom>
          <a:solidFill>
            <a:srgbClr val="0B1437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9423" y="2836103"/>
            <a:ext cx="289682" cy="28968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132320" y="26060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Eagle-1 &amp; IRIS²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7132320" y="297180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3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ESA's first QKD satellite, Eagle-1, is due to launch in late 2026; a QKD microsatellite pilot is being procured under IRIS².</a:t>
            </a:r>
            <a:endParaRPr lang="en-US" sz="1230" dirty="0"/>
          </a:p>
        </p:txBody>
      </p:sp>
      <p:sp>
        <p:nvSpPr>
          <p:cNvPr id="22" name="Shape 18"/>
          <p:cNvSpPr/>
          <p:nvPr/>
        </p:nvSpPr>
        <p:spPr>
          <a:xfrm>
            <a:off x="566928" y="4114800"/>
            <a:ext cx="5321808" cy="1517904"/>
          </a:xfrm>
          <a:prstGeom prst="roundRect">
            <a:avLst>
              <a:gd name="adj" fmla="val 5422"/>
            </a:avLst>
          </a:prstGeom>
          <a:solidFill>
            <a:srgbClr val="151E45"/>
          </a:solidFill>
          <a:ln/>
        </p:spPr>
      </p:sp>
      <p:sp>
        <p:nvSpPr>
          <p:cNvPr id="23" name="Shape 19"/>
          <p:cNvSpPr/>
          <p:nvPr/>
        </p:nvSpPr>
        <p:spPr>
          <a:xfrm>
            <a:off x="822960" y="4370832"/>
            <a:ext cx="603504" cy="603504"/>
          </a:xfrm>
          <a:prstGeom prst="ellipse">
            <a:avLst/>
          </a:prstGeom>
          <a:solidFill>
            <a:srgbClr val="0B1437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871" y="4527743"/>
            <a:ext cx="289682" cy="28968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572768" y="429768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optical ground station in Barcelona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572768" y="466344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3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IberianQCI is setting up optical stations in Madrid, Barcelona and southern Portugal — a potential downlink target on our doorstep.</a:t>
            </a:r>
            <a:endParaRPr lang="en-US" sz="1230" dirty="0"/>
          </a:p>
        </p:txBody>
      </p:sp>
      <p:sp>
        <p:nvSpPr>
          <p:cNvPr id="27" name="Shape 22"/>
          <p:cNvSpPr/>
          <p:nvPr/>
        </p:nvSpPr>
        <p:spPr>
          <a:xfrm>
            <a:off x="6126480" y="4114800"/>
            <a:ext cx="5321808" cy="1517904"/>
          </a:xfrm>
          <a:prstGeom prst="roundRect">
            <a:avLst>
              <a:gd name="adj" fmla="val 5422"/>
            </a:avLst>
          </a:prstGeom>
          <a:solidFill>
            <a:srgbClr val="151E45"/>
          </a:solidFill>
          <a:ln/>
        </p:spPr>
      </p:sp>
      <p:sp>
        <p:nvSpPr>
          <p:cNvPr id="28" name="Shape 23"/>
          <p:cNvSpPr/>
          <p:nvPr/>
        </p:nvSpPr>
        <p:spPr>
          <a:xfrm>
            <a:off x="6382512" y="4370832"/>
            <a:ext cx="603504" cy="603504"/>
          </a:xfrm>
          <a:prstGeom prst="ellipse">
            <a:avLst/>
          </a:prstGeom>
          <a:solidFill>
            <a:srgbClr val="0B1437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9423" y="4527743"/>
            <a:ext cx="289682" cy="28968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132320" y="429768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Catalonia is a quantum hub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7132320" y="466344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3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“Quàntica” Mediterranean Valley + Catalonia Quantum Academy (ICFO, UPC, CTTC, UAB, UB…) — our partners are right here.</a:t>
            </a:r>
            <a:endParaRPr lang="en-US" sz="1230" dirty="0"/>
          </a:p>
        </p:txBody>
      </p:sp>
      <p:sp>
        <p:nvSpPr>
          <p:cNvPr id="32" name="Text 26"/>
          <p:cNvSpPr/>
          <p:nvPr/>
        </p:nvSpPr>
        <p:spPr>
          <a:xfrm>
            <a:off x="566928" y="60533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European Commission (EuroQCI); ESA; EuroQCI-Spain / IberianQCI (Indra); CTTC Catalonia Quantum Academy.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QKD-Sat · UPC EETAC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PROGRAMME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ESA Fly Your Satellite! Design Booster 3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074920" cy="4160520"/>
          </a:xfrm>
          <a:prstGeom prst="roundRect">
            <a:avLst>
              <a:gd name="adj" fmla="val 1978"/>
            </a:avLst>
          </a:prstGeom>
          <a:solidFill>
            <a:srgbClr val="F2F0FF"/>
          </a:solidFill>
          <a:ln/>
          <a:effectLst>
            <a:outerShdw sx="100000" sy="100000" kx="0" ky="0" algn="bl" rotWithShape="0" blurRad="114300" dist="38100" dir="5400000">
              <a:srgbClr val="1A214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526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ESA Education programme for university teams with a preliminary CubeSat / PocketQube design.</a:t>
            </a:r>
            <a:endParaRPr lang="en-US" sz="1380" dirty="0"/>
          </a:p>
          <a:p>
            <a:pPr marL="203200" indent="-2032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1.5-year schedule: ESA experts review your design, you implement their feedback and consolidate it.</a:t>
            </a:r>
            <a:endParaRPr lang="en-US" sz="1380" dirty="0"/>
          </a:p>
          <a:p>
            <a:pPr marL="203200" indent="-2032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less-experienced teams — exactly our profile. It's the early, cheap-to-change phase of a mission.</a:t>
            </a:r>
            <a:endParaRPr lang="en-US" sz="1380" dirty="0"/>
          </a:p>
          <a:p>
            <a:pPr marL="203200" indent="-2032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8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undergrads — we don't need to be a PhD team to apply.</a:t>
            </a:r>
            <a:endParaRPr lang="en-US" sz="1380" dirty="0"/>
          </a:p>
        </p:txBody>
      </p:sp>
      <p:sp>
        <p:nvSpPr>
          <p:cNvPr id="7" name="Text 5"/>
          <p:cNvSpPr/>
          <p:nvPr/>
        </p:nvSpPr>
        <p:spPr>
          <a:xfrm>
            <a:off x="598932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ESA gives us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89320" y="2240280"/>
            <a:ext cx="512064" cy="512064"/>
          </a:xfrm>
          <a:prstGeom prst="ellipse">
            <a:avLst/>
          </a:prstGeom>
          <a:solidFill>
            <a:srgbClr val="ECFE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2457" y="2373417"/>
            <a:ext cx="245791" cy="24579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629400" y="222199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8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mentoring from ESA specialists &amp; lecturers</a:t>
            </a:r>
            <a:endParaRPr lang="en-US" sz="1380" dirty="0"/>
          </a:p>
        </p:txBody>
      </p:sp>
      <p:sp>
        <p:nvSpPr>
          <p:cNvPr id="11" name="Shape 8"/>
          <p:cNvSpPr/>
          <p:nvPr/>
        </p:nvSpPr>
        <p:spPr>
          <a:xfrm>
            <a:off x="5989320" y="2990088"/>
            <a:ext cx="512064" cy="512064"/>
          </a:xfrm>
          <a:prstGeom prst="ellipse">
            <a:avLst/>
          </a:prstGeom>
          <a:solidFill>
            <a:srgbClr val="ECFE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2457" y="3123225"/>
            <a:ext cx="245791" cy="2457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29400" y="297180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8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ESA's environmental test facilities (CSF, ESEC)</a:t>
            </a:r>
            <a:endParaRPr lang="en-US" sz="1380" dirty="0"/>
          </a:p>
        </p:txBody>
      </p:sp>
      <p:sp>
        <p:nvSpPr>
          <p:cNvPr id="14" name="Shape 10"/>
          <p:cNvSpPr/>
          <p:nvPr/>
        </p:nvSpPr>
        <p:spPr>
          <a:xfrm>
            <a:off x="5989320" y="3739896"/>
            <a:ext cx="512064" cy="512064"/>
          </a:xfrm>
          <a:prstGeom prst="ellipse">
            <a:avLst/>
          </a:prstGeom>
          <a:solidFill>
            <a:srgbClr val="ECFE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2457" y="3873033"/>
            <a:ext cx="245791" cy="2457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29400" y="372160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8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week + webinars on real space engineering</a:t>
            </a:r>
            <a:endParaRPr lang="en-US" sz="1380" dirty="0"/>
          </a:p>
        </p:txBody>
      </p:sp>
      <p:sp>
        <p:nvSpPr>
          <p:cNvPr id="17" name="Shape 12"/>
          <p:cNvSpPr/>
          <p:nvPr/>
        </p:nvSpPr>
        <p:spPr>
          <a:xfrm>
            <a:off x="5989320" y="4489704"/>
            <a:ext cx="512064" cy="512064"/>
          </a:xfrm>
          <a:prstGeom prst="ellipse">
            <a:avLst/>
          </a:prstGeom>
          <a:solidFill>
            <a:srgbClr val="ECFEF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2457" y="4622841"/>
            <a:ext cx="245791" cy="24579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629400" y="447141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8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Sponsorship for student travel, meals &amp; accommodation</a:t>
            </a:r>
            <a:endParaRPr lang="en-US" sz="1380" dirty="0"/>
          </a:p>
        </p:txBody>
      </p:sp>
      <p:sp>
        <p:nvSpPr>
          <p:cNvPr id="20" name="Shape 14"/>
          <p:cNvSpPr/>
          <p:nvPr/>
        </p:nvSpPr>
        <p:spPr>
          <a:xfrm>
            <a:off x="5989320" y="5239512"/>
            <a:ext cx="512064" cy="512064"/>
          </a:xfrm>
          <a:prstGeom prst="ellipse">
            <a:avLst/>
          </a:prstGeom>
          <a:solidFill>
            <a:srgbClr val="ECFEFF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2457" y="5372649"/>
            <a:ext cx="245791" cy="24579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629400" y="5221224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8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standards &amp; best practice — and we keep ownership of the satellite</a:t>
            </a:r>
            <a:endParaRPr lang="en-US" sz="1380" dirty="0"/>
          </a:p>
        </p:txBody>
      </p:sp>
      <p:sp>
        <p:nvSpPr>
          <p:cNvPr id="23" name="Text 16"/>
          <p:cNvSpPr/>
          <p:nvPr/>
        </p:nvSpPr>
        <p:spPr>
          <a:xfrm>
            <a:off x="5989320" y="5943600"/>
            <a:ext cx="5650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Crucially: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11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funding commitment is required to enter the programme.”  We get in on the strength of the idea, then leverage that to raise money.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QKD-Sat · UPC EETAC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7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— THE CLOCK IS THE CONSTRAINT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Booster 3 timeline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686800" y="1627632"/>
            <a:ext cx="2944368" cy="914400"/>
          </a:xfrm>
          <a:prstGeom prst="roundRect">
            <a:avLst>
              <a:gd name="adj" fmla="val 9000"/>
            </a:avLst>
          </a:prstGeom>
          <a:solidFill>
            <a:srgbClr val="ECFEFF"/>
          </a:solidFill>
          <a:ln/>
          <a:effectLst>
            <a:outerShdw sx="100000" sy="100000" kx="0" ky="0" algn="bl" rotWithShape="0" blurRad="114300" dist="38100" dir="5400000">
              <a:srgbClr val="1A214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87968" y="180136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5369" y="1948769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55480" y="17373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6B76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
</a:t>
            </a:r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Oct 2026 · 13:00 CEST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914400" y="3794760"/>
            <a:ext cx="10332720" cy="0"/>
          </a:xfrm>
          <a:prstGeom prst="line">
            <a:avLst/>
          </a:prstGeom>
          <a:noFill/>
          <a:ln w="31750">
            <a:solidFill>
              <a:srgbClr val="A78BF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5528" y="3675888"/>
            <a:ext cx="237744" cy="237744"/>
          </a:xfrm>
          <a:prstGeom prst="ellipse">
            <a:avLst/>
          </a:prstGeom>
          <a:solidFill>
            <a:srgbClr val="8B5C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02920" y="28163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open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3291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team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draft proposal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862072" y="3675888"/>
            <a:ext cx="237744" cy="237744"/>
          </a:xfrm>
          <a:prstGeom prst="ellipse">
            <a:avLst/>
          </a:prstGeom>
          <a:solidFill>
            <a:srgbClr val="27D3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66544" y="3995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7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Oct 2026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2066544" y="4251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deadline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066544" y="4709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Proposal +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endorsement letter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928616" y="3675888"/>
            <a:ext cx="237744" cy="237744"/>
          </a:xfrm>
          <a:prstGeom prst="ellipse">
            <a:avLst/>
          </a:prstGeom>
          <a:solidFill>
            <a:srgbClr val="8B5C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33088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16–20 Nov 2026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133088" y="28163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Week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133088" y="3291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Onsite @ ESTEC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(shortlisted teams)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995160" y="3675888"/>
            <a:ext cx="237744" cy="237744"/>
          </a:xfrm>
          <a:prstGeom prst="ellipse">
            <a:avLst/>
          </a:prstGeom>
          <a:solidFill>
            <a:srgbClr val="8B5C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99632" y="3995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1–3 Dec 2026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199632" y="4251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Workshop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199632" y="4709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the design,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teams enter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9061704" y="3675888"/>
            <a:ext cx="237744" cy="237744"/>
          </a:xfrm>
          <a:prstGeom prst="ellipse">
            <a:avLst/>
          </a:prstGeom>
          <a:solidFill>
            <a:srgbClr val="8B5C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266176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Mar–Apr 2027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8266176" y="28163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Design Review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266176" y="3291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feedback,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design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11128248" y="3675888"/>
            <a:ext cx="237744" cy="237744"/>
          </a:xfrm>
          <a:prstGeom prst="ellipse">
            <a:avLst/>
          </a:prstGeom>
          <a:solidFill>
            <a:srgbClr val="8B5C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859975" y="3995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9859975" y="4251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review</a:t>
            </a:r>
            <a:endParaRPr lang="en-US" sz="12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presentations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859975" y="4709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Mature, consolidated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(May–Jun 2028)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566928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info session already happened (17 Jun 2026). We have until early October — every week counts, so the paperwork and the professor start now.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QKD-Sat · UPC EETAC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BIGGER PRIZE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Booster is the on-ramp to a launch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383280" cy="2286000"/>
          </a:xfrm>
          <a:prstGeom prst="roundRect">
            <a:avLst>
              <a:gd name="adj" fmla="val 3600"/>
            </a:avLst>
          </a:prstGeom>
          <a:solidFill>
            <a:srgbClr val="F2F0FF"/>
          </a:solidFill>
          <a:ln/>
          <a:effectLst>
            <a:outerShdw sx="100000" sy="100000" kx="0" ky="0" algn="bl" rotWithShape="0" blurRad="114300" dist="38100" dir="5400000">
              <a:srgbClr val="1A214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05740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447" y="2214311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91056" y="20848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Booster 3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59536" y="27889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our design with ESA experts (1.5 yrs). Where we apply now.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096512" y="269748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6364" y="2797332"/>
            <a:ext cx="184343" cy="184343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80560" y="1783080"/>
            <a:ext cx="3383280" cy="2286000"/>
          </a:xfrm>
          <a:prstGeom prst="roundRect">
            <a:avLst>
              <a:gd name="adj" fmla="val 3600"/>
            </a:avLst>
          </a:prstGeom>
          <a:solidFill>
            <a:srgbClr val="ECFEFF"/>
          </a:solidFill>
          <a:ln/>
          <a:effectLst>
            <a:outerShdw sx="100000" sy="100000" kx="0" ky="0" algn="bl" rotWithShape="0" blurRad="114300" dist="38100" dir="5400000">
              <a:srgbClr val="1A2140">
                <a:alpha val="13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773168" y="205740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0079" y="2214311"/>
            <a:ext cx="289682" cy="28968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04688" y="20848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 Your Satellite!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4773168" y="27889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step for mature projects: assembly, integration, testing &amp; verification with ESA.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010144" y="269748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9996" y="2797332"/>
            <a:ext cx="184343" cy="184343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394192" y="1783080"/>
            <a:ext cx="3383280" cy="2286000"/>
          </a:xfrm>
          <a:prstGeom prst="roundRect">
            <a:avLst>
              <a:gd name="adj" fmla="val 36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14300" dist="38100" dir="5400000">
              <a:srgbClr val="1A2140">
                <a:alpha val="13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686800" y="205740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3711" y="2214311"/>
            <a:ext cx="289682" cy="28968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418320" y="20848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 launch</a:t>
            </a:r>
            <a:endParaRPr lang="en-US" sz="1550" dirty="0"/>
          </a:p>
        </p:txBody>
      </p:sp>
      <p:sp>
        <p:nvSpPr>
          <p:cNvPr id="22" name="Text 15"/>
          <p:cNvSpPr/>
          <p:nvPr/>
        </p:nvSpPr>
        <p:spPr>
          <a:xfrm>
            <a:off x="8686800" y="27889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FYS can end in an ESA-sponsored launch — e.g. onto Ariane 6.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566928" y="4343400"/>
            <a:ext cx="11064240" cy="1600200"/>
          </a:xfrm>
          <a:prstGeom prst="roundRect">
            <a:avLst>
              <a:gd name="adj" fmla="val 5143"/>
            </a:avLst>
          </a:prstGeom>
          <a:solidFill>
            <a:srgbClr val="151E45"/>
          </a:solidFill>
          <a:ln/>
        </p:spPr>
      </p:sp>
      <p:sp>
        <p:nvSpPr>
          <p:cNvPr id="24" name="Shape 17"/>
          <p:cNvSpPr/>
          <p:nvPr/>
        </p:nvSpPr>
        <p:spPr>
          <a:xfrm>
            <a:off x="914400" y="4709160"/>
            <a:ext cx="868680" cy="868680"/>
          </a:xfrm>
          <a:prstGeom prst="ellipse">
            <a:avLst/>
          </a:prstGeom>
          <a:solidFill>
            <a:srgbClr val="0B1437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0257" y="4935017"/>
            <a:ext cx="416966" cy="41696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057400" y="4572000"/>
            <a:ext cx="9235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path is real at UPC.  </a:t>
            </a:r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E7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UPC's own NanoSat Lab took its 3Cat-4 CubeSat through ESA Fly Your Satellite! and launched it on the maiden flight of Ariane 6 in July 2024 — the only Catalan instrument on board. More than 90 bachelor, master and PhD students worked on it over seven years.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QKD-Sat · UPC EETAC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ESA REQUIRES OF THE TEAM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need on board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029200" cy="1874520"/>
          </a:xfrm>
          <a:prstGeom prst="roundRect">
            <a:avLst>
              <a:gd name="adj" fmla="val 4390"/>
            </a:avLst>
          </a:prstGeom>
          <a:solidFill>
            <a:srgbClr val="ECFEFF"/>
          </a:solidFill>
          <a:ln/>
          <a:effectLst>
            <a:outerShdw sx="100000" sy="100000" kx="0" ky="0" algn="bl" rotWithShape="0" blurRad="114300" dist="38100" dir="5400000">
              <a:srgbClr val="1A214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47672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159" y="2104583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19933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team: min. 6 students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3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18+, nationals of an ESA-eligible state (Spain qualifies), enrolled at UPC. Undergrads count — that's us. ESA wants diverse backgrounds, so we recruit beyond our degree.</a:t>
            </a:r>
            <a:endParaRPr lang="en-US" sz="1330" dirty="0"/>
          </a:p>
        </p:txBody>
      </p:sp>
      <p:sp>
        <p:nvSpPr>
          <p:cNvPr id="9" name="Shape 6"/>
          <p:cNvSpPr/>
          <p:nvPr/>
        </p:nvSpPr>
        <p:spPr>
          <a:xfrm>
            <a:off x="5779008" y="1691640"/>
            <a:ext cx="5852160" cy="1874520"/>
          </a:xfrm>
          <a:prstGeom prst="roundRect">
            <a:avLst>
              <a:gd name="adj" fmla="val 4390"/>
            </a:avLst>
          </a:prstGeom>
          <a:solidFill>
            <a:srgbClr val="F2F0FF"/>
          </a:solidFill>
          <a:ln/>
          <a:effectLst>
            <a:outerShdw sx="100000" sy="100000" kx="0" ky="0" algn="bl" rotWithShape="0" blurRad="114300" dist="38100" dir="5400000">
              <a:srgbClr val="1A214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053328" y="1947672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239" y="2104583"/>
            <a:ext cx="289682" cy="2896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784848" y="19933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Min. 2 supervisors → 3 roles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6080760" y="26060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Endorsing professor</a:t>
            </a:r>
            <a:pPr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(signs on behalf of UPC) · </a:t>
            </a:r>
            <a:pPr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pPr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pPr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engineer</a:t>
            </a:r>
            <a:pPr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these two can be the professor, a master/PhD student, or a UPC assistant, and must be nationals of an eligible state.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66928" y="3703320"/>
            <a:ext cx="11064240" cy="1325880"/>
          </a:xfrm>
          <a:prstGeom prst="roundRect">
            <a:avLst>
              <a:gd name="adj" fmla="val 6207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14300" dist="38100" dir="5400000">
              <a:srgbClr val="1A2140">
                <a:alpha val="13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6868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So, concretely, we need: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868680" y="4206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professor to endorse us  ·  </a:t>
            </a:r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master/PhD student or assistant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team-lead / system-engineer  ·  more members from ADCS, optics, power, software, structures, even business &amp; law.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66928" y="516636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BF3E2"/>
          </a:solidFill>
          <a:ln/>
        </p:spPr>
      </p:sp>
      <p:sp>
        <p:nvSpPr>
          <p:cNvPr id="18" name="Shape 14"/>
          <p:cNvSpPr/>
          <p:nvPr/>
        </p:nvSpPr>
        <p:spPr>
          <a:xfrm>
            <a:off x="841248" y="533095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649" y="5478353"/>
            <a:ext cx="272125" cy="27212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00200" y="5285232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9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proposal per faculty/department.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4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EETAC NanoSat Lab submits its own DB3 proposal from our department, ESA accepts only one. We must check this early — and ideally turn them into mentors/allies rather than competitors.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QKD-Sat · UPC EETAC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ALLIES — CREDIBILITY WINS SELECTIONS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partner with, and why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520440" cy="1847088"/>
          </a:xfrm>
          <a:prstGeom prst="roundRect">
            <a:avLst>
              <a:gd name="adj" fmla="val 4455"/>
            </a:avLst>
          </a:prstGeom>
          <a:solidFill>
            <a:srgbClr val="F2F0FF"/>
          </a:solidFill>
          <a:ln/>
          <a:effectLst>
            <a:outerShdw sx="100000" sy="100000" kx="0" ky="0" algn="bl" rotWithShape="0" blurRad="114300" dist="38100" dir="5400000">
              <a:srgbClr val="1A214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5740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159" y="2214311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203911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59536" y="2697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3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home, labs, funding and the endorsing professor. Owner of the satellite.</a:t>
            </a:r>
            <a:endParaRPr lang="en-US" sz="1230" dirty="0"/>
          </a:p>
        </p:txBody>
      </p:sp>
      <p:sp>
        <p:nvSpPr>
          <p:cNvPr id="9" name="Shape 6"/>
          <p:cNvSpPr/>
          <p:nvPr/>
        </p:nvSpPr>
        <p:spPr>
          <a:xfrm>
            <a:off x="4334256" y="1783080"/>
            <a:ext cx="3520440" cy="1847088"/>
          </a:xfrm>
          <a:prstGeom prst="roundRect">
            <a:avLst>
              <a:gd name="adj" fmla="val 4455"/>
            </a:avLst>
          </a:prstGeom>
          <a:solidFill>
            <a:srgbClr val="ECFEFF"/>
          </a:solidFill>
          <a:ln/>
          <a:effectLst>
            <a:outerShdw sx="100000" sy="100000" kx="0" ky="0" algn="bl" rotWithShape="0" blurRad="114300" dist="38100" dir="5400000">
              <a:srgbClr val="1A214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08576" y="205740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487" y="2214311"/>
            <a:ext cx="289682" cy="2896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0096" y="203911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NanoSat Lab (EETAC)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26864" y="2697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3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ESA / Ariane 6 heritage with 3Cat-4. Ideal mentors — coordinate, don't collide.</a:t>
            </a:r>
            <a:endParaRPr lang="en-US" sz="1230" dirty="0"/>
          </a:p>
        </p:txBody>
      </p:sp>
      <p:sp>
        <p:nvSpPr>
          <p:cNvPr id="14" name="Shape 10"/>
          <p:cNvSpPr/>
          <p:nvPr/>
        </p:nvSpPr>
        <p:spPr>
          <a:xfrm>
            <a:off x="8101584" y="1783080"/>
            <a:ext cx="3520440" cy="1847088"/>
          </a:xfrm>
          <a:prstGeom prst="roundRect">
            <a:avLst>
              <a:gd name="adj" fmla="val 4455"/>
            </a:avLst>
          </a:prstGeom>
          <a:solidFill>
            <a:srgbClr val="F2F0FF"/>
          </a:solidFill>
          <a:ln/>
          <a:effectLst>
            <a:outerShdw sx="100000" sy="100000" kx="0" ky="0" algn="bl" rotWithShape="0" blurRad="114300" dist="38100" dir="5400000">
              <a:srgbClr val="1A214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75904" y="205740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815" y="2214311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07424" y="203911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CTTC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94192" y="2697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3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Castelldefels QKD experts (Telefónica, LuxQuanta projects) + Catalonia Quantum Academy.</a:t>
            </a:r>
            <a:endParaRPr lang="en-US" sz="1230" dirty="0"/>
          </a:p>
        </p:txBody>
      </p:sp>
      <p:sp>
        <p:nvSpPr>
          <p:cNvPr id="19" name="Shape 14"/>
          <p:cNvSpPr/>
          <p:nvPr/>
        </p:nvSpPr>
        <p:spPr>
          <a:xfrm>
            <a:off x="566928" y="3840480"/>
            <a:ext cx="3520440" cy="1847088"/>
          </a:xfrm>
          <a:prstGeom prst="roundRect">
            <a:avLst>
              <a:gd name="adj" fmla="val 4455"/>
            </a:avLst>
          </a:prstGeom>
          <a:solidFill>
            <a:srgbClr val="ECFEFF"/>
          </a:solidFill>
          <a:ln/>
          <a:effectLst>
            <a:outerShdw sx="100000" sy="100000" kx="0" ky="0" algn="bl" rotWithShape="0" blurRad="114300" dist="38100" dir="5400000">
              <a:srgbClr val="1A214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41248" y="411480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159" y="4271711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72768" y="409651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ICFO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59536" y="47548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3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World-class photonics &amp; quantum optics; coordinates the Catalonia Quantum Academy.</a:t>
            </a:r>
            <a:endParaRPr lang="en-US" sz="1230" dirty="0"/>
          </a:p>
        </p:txBody>
      </p:sp>
      <p:sp>
        <p:nvSpPr>
          <p:cNvPr id="24" name="Shape 18"/>
          <p:cNvSpPr/>
          <p:nvPr/>
        </p:nvSpPr>
        <p:spPr>
          <a:xfrm>
            <a:off x="4334256" y="3840480"/>
            <a:ext cx="3520440" cy="1847088"/>
          </a:xfrm>
          <a:prstGeom prst="roundRect">
            <a:avLst>
              <a:gd name="adj" fmla="val 4455"/>
            </a:avLst>
          </a:prstGeom>
          <a:solidFill>
            <a:srgbClr val="F2F0FF"/>
          </a:solidFill>
          <a:ln/>
          <a:effectLst>
            <a:outerShdw sx="100000" sy="100000" kx="0" ky="0" algn="bl" rotWithShape="0" blurRad="114300" dist="38100" dir="5400000">
              <a:srgbClr val="1A2140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08576" y="411480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5487" y="4271711"/>
            <a:ext cx="289682" cy="28968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40096" y="409651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Barcelona Supercomputing Center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26864" y="47548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3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Modelling, simulation &amp; quantum compute muscle for the analysis work.</a:t>
            </a:r>
            <a:endParaRPr lang="en-US" sz="1230" dirty="0"/>
          </a:p>
        </p:txBody>
      </p:sp>
      <p:sp>
        <p:nvSpPr>
          <p:cNvPr id="29" name="Shape 22"/>
          <p:cNvSpPr/>
          <p:nvPr/>
        </p:nvSpPr>
        <p:spPr>
          <a:xfrm>
            <a:off x="8101584" y="3840480"/>
            <a:ext cx="3520440" cy="1847088"/>
          </a:xfrm>
          <a:prstGeom prst="roundRect">
            <a:avLst>
              <a:gd name="adj" fmla="val 4455"/>
            </a:avLst>
          </a:prstGeom>
          <a:solidFill>
            <a:srgbClr val="ECFEFF"/>
          </a:solidFill>
          <a:ln/>
          <a:effectLst>
            <a:outerShdw sx="100000" sy="100000" kx="0" ky="0" algn="bl" rotWithShape="0" blurRad="114300" dist="38100" dir="5400000">
              <a:srgbClr val="1A2140">
                <a:alpha val="13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75904" y="411480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2815" y="4271711"/>
            <a:ext cx="289682" cy="28968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07424" y="409651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sponsors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94192" y="47548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3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Hardware, PCBs, optics &amp; software in exchange for visibility — the Terrassa playbook.</a:t>
            </a:r>
            <a:endParaRPr lang="en-US" sz="1230" dirty="0"/>
          </a:p>
        </p:txBody>
      </p:sp>
      <p:sp>
        <p:nvSpPr>
          <p:cNvPr id="34" name="Text 26"/>
          <p:cNvSpPr/>
          <p:nvPr/>
        </p:nvSpPr>
        <p:spPr>
          <a:xfrm>
            <a:off x="566928" y="6053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deal we offer experts:  </a:t>
            </a:r>
            <a:pPr indent="0" marL="0">
              <a:buNone/>
            </a:pPr>
            <a:r>
              <a:rPr lang="en-US" sz="1350" dirty="0">
                <a:solidFill>
                  <a:srgbClr val="111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co-authorship on the papers we publish in exchange for lab access, mentoring and, where possible, a slice of budget.</a:t>
            </a:r>
            <a:endParaRPr lang="en-US" sz="1350" dirty="0"/>
          </a:p>
        </p:txBody>
      </p:sp>
      <p:sp>
        <p:nvSpPr>
          <p:cNvPr id="35" name="Text 27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QKD-Sat · UPC EETAC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— EASIER ONCE WE'RE IN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fund the hardware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6002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covers travel to events, not the satellite. But “no funding commitment is required to enter” — so we get selected first, and selection itself unlocks the money.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5321808" cy="1691640"/>
          </a:xfrm>
          <a:prstGeom prst="roundRect">
            <a:avLst>
              <a:gd name="adj" fmla="val 4865"/>
            </a:avLst>
          </a:prstGeom>
          <a:solidFill>
            <a:srgbClr val="F2F0FF"/>
          </a:solidFill>
          <a:ln/>
          <a:effectLst>
            <a:outerShdw sx="100000" sy="100000" kx="0" ky="0" algn="bl" rotWithShape="0" blurRad="114300" dist="38100" dir="5400000">
              <a:srgbClr val="1A214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56032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159" y="2717231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2514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4270248" y="25420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Near-certain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572768" y="2907792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3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we're in DB3, UPC support becomes much easier to justify. Registering the association unlocks UPC calls, space and conventions.</a:t>
            </a:r>
            <a:endParaRPr lang="en-US" sz="1230" dirty="0"/>
          </a:p>
        </p:txBody>
      </p:sp>
      <p:sp>
        <p:nvSpPr>
          <p:cNvPr id="11" name="Shape 8"/>
          <p:cNvSpPr/>
          <p:nvPr/>
        </p:nvSpPr>
        <p:spPr>
          <a:xfrm>
            <a:off x="6126480" y="2286000"/>
            <a:ext cx="5321808" cy="1691640"/>
          </a:xfrm>
          <a:prstGeom prst="roundRect">
            <a:avLst>
              <a:gd name="adj" fmla="val 4865"/>
            </a:avLst>
          </a:prstGeom>
          <a:solidFill>
            <a:srgbClr val="ECFEFF"/>
          </a:solidFill>
          <a:ln/>
          <a:effectLst>
            <a:outerShdw sx="100000" sy="100000" kx="0" ky="0" algn="bl" rotWithShape="0" blurRad="114300" dist="38100" dir="5400000">
              <a:srgbClr val="1A214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0" y="256032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711" y="2717231"/>
            <a:ext cx="289682" cy="28968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0" y="2514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AGAUR — AEU grants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9829800" y="25420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Catalan public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132320" y="2907792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3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Generalitat grants for university student associations (scientific &amp; training activities). Competitive; requires the association to be legally registered.</a:t>
            </a:r>
            <a:endParaRPr lang="en-US" sz="1230" dirty="0"/>
          </a:p>
        </p:txBody>
      </p:sp>
      <p:sp>
        <p:nvSpPr>
          <p:cNvPr id="17" name="Shape 13"/>
          <p:cNvSpPr/>
          <p:nvPr/>
        </p:nvSpPr>
        <p:spPr>
          <a:xfrm>
            <a:off x="566928" y="4160520"/>
            <a:ext cx="5321808" cy="1691640"/>
          </a:xfrm>
          <a:prstGeom prst="roundRect">
            <a:avLst>
              <a:gd name="adj" fmla="val 4865"/>
            </a:avLst>
          </a:prstGeom>
          <a:solidFill>
            <a:srgbClr val="F2F0FF"/>
          </a:solidFill>
          <a:ln/>
          <a:effectLst>
            <a:outerShdw sx="100000" sy="100000" kx="0" ky="0" algn="bl" rotWithShape="0" blurRad="114300" dist="38100" dir="5400000">
              <a:srgbClr val="1A2140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1248" y="443484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159" y="4591751"/>
            <a:ext cx="289682" cy="28968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72768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4270248" y="44165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In-kind + cash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572768" y="4782312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3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discounted PCBs, optics, software and hardware loans in return for logo &amp; visibility — the model Terrassa already uses.</a:t>
            </a:r>
            <a:endParaRPr lang="en-US" sz="1230" dirty="0"/>
          </a:p>
        </p:txBody>
      </p:sp>
      <p:sp>
        <p:nvSpPr>
          <p:cNvPr id="23" name="Shape 18"/>
          <p:cNvSpPr/>
          <p:nvPr/>
        </p:nvSpPr>
        <p:spPr>
          <a:xfrm>
            <a:off x="6126480" y="4160520"/>
            <a:ext cx="5321808" cy="1691640"/>
          </a:xfrm>
          <a:prstGeom prst="roundRect">
            <a:avLst>
              <a:gd name="adj" fmla="val 4865"/>
            </a:avLst>
          </a:prstGeom>
          <a:solidFill>
            <a:srgbClr val="ECFEFF"/>
          </a:solidFill>
          <a:ln/>
          <a:effectLst>
            <a:outerShdw sx="100000" sy="100000" kx="0" ky="0" algn="bl" rotWithShape="0" blurRad="114300" dist="38100" dir="5400000">
              <a:srgbClr val="1A2140">
                <a:alpha val="13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0" y="443484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711" y="4591751"/>
            <a:ext cx="289682" cy="28968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13232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ESA &amp; ecosystem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9829800" y="44165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+ facilities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7132320" y="4782312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3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sponsors travel/accommodation and gives free access to test facilities; EuroQCI/quantum momentum attracts further partners.</a:t>
            </a:r>
            <a:endParaRPr lang="en-US" sz="1230" dirty="0"/>
          </a:p>
        </p:txBody>
      </p:sp>
      <p:sp>
        <p:nvSpPr>
          <p:cNvPr id="29" name="Text 23"/>
          <p:cNvSpPr/>
          <p:nvPr/>
        </p:nvSpPr>
        <p:spPr>
          <a:xfrm>
            <a:off x="566928" y="6053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matters: get into DB3 → register the association → then UPC, AGAUR and companies all become realistic in parallel.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QKD-Sat · UPC EETAC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ACTUALLY RUN IT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Methodology: papers, theses, people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21808" cy="1572768"/>
          </a:xfrm>
          <a:prstGeom prst="roundRect">
            <a:avLst>
              <a:gd name="adj" fmla="val 5233"/>
            </a:avLst>
          </a:prstGeom>
          <a:solidFill>
            <a:srgbClr val="ECFEFF"/>
          </a:solidFill>
          <a:ln/>
          <a:effectLst>
            <a:outerShdw sx="100000" sy="100000" kx="0" ky="0" algn="bl" rotWithShape="0" blurRad="114300" dist="38100" dir="5400000">
              <a:srgbClr val="1A214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5740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159" y="2214311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203911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papers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572768" y="2441448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6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already have a writing core (Oscar, Toni, Jairo, +). Every subsystem and trade-off is a potential paper.</a:t>
            </a:r>
            <a:endParaRPr lang="en-US" sz="1260" dirty="0"/>
          </a:p>
        </p:txBody>
      </p:sp>
      <p:sp>
        <p:nvSpPr>
          <p:cNvPr id="9" name="Shape 6"/>
          <p:cNvSpPr/>
          <p:nvPr/>
        </p:nvSpPr>
        <p:spPr>
          <a:xfrm>
            <a:off x="6126480" y="1783080"/>
            <a:ext cx="5321808" cy="1572768"/>
          </a:xfrm>
          <a:prstGeom prst="roundRect">
            <a:avLst>
              <a:gd name="adj" fmla="val 5233"/>
            </a:avLst>
          </a:prstGeom>
          <a:solidFill>
            <a:srgbClr val="F2F0FF"/>
          </a:solidFill>
          <a:ln/>
          <a:effectLst>
            <a:outerShdw sx="100000" sy="100000" kx="0" ky="0" algn="bl" rotWithShape="0" blurRad="114300" dist="38100" dir="5400000">
              <a:srgbClr val="1A214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205740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711" y="2214311"/>
            <a:ext cx="289682" cy="2896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203911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 via TFGs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132320" y="2441448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6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students a real, fly-able thesis topic. That's how we scale the team and keep continuity year on year.</a:t>
            </a:r>
            <a:endParaRPr lang="en-US" sz="1260" dirty="0"/>
          </a:p>
        </p:txBody>
      </p:sp>
      <p:sp>
        <p:nvSpPr>
          <p:cNvPr id="14" name="Shape 10"/>
          <p:cNvSpPr/>
          <p:nvPr/>
        </p:nvSpPr>
        <p:spPr>
          <a:xfrm>
            <a:off x="566928" y="3566160"/>
            <a:ext cx="5321808" cy="1572768"/>
          </a:xfrm>
          <a:prstGeom prst="roundRect">
            <a:avLst>
              <a:gd name="adj" fmla="val 5233"/>
            </a:avLst>
          </a:prstGeom>
          <a:solidFill>
            <a:srgbClr val="ECFEFF"/>
          </a:solidFill>
          <a:ln/>
          <a:effectLst>
            <a:outerShdw sx="100000" sy="100000" kx="0" ky="0" algn="bl" rotWithShape="0" blurRad="114300" dist="38100" dir="5400000">
              <a:srgbClr val="1A214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" y="384048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159" y="3997391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72768" y="382219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Co-authorship for access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572768" y="4224528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6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Professors &amp; researchers join as co-authors; in return we get labs, mentoring and budget. Aligns everyone's incentives.</a:t>
            </a:r>
            <a:endParaRPr lang="en-US" sz="1260" dirty="0"/>
          </a:p>
        </p:txBody>
      </p:sp>
      <p:sp>
        <p:nvSpPr>
          <p:cNvPr id="19" name="Shape 14"/>
          <p:cNvSpPr/>
          <p:nvPr/>
        </p:nvSpPr>
        <p:spPr>
          <a:xfrm>
            <a:off x="6126480" y="3566160"/>
            <a:ext cx="5321808" cy="1572768"/>
          </a:xfrm>
          <a:prstGeom prst="roundRect">
            <a:avLst>
              <a:gd name="adj" fmla="val 5233"/>
            </a:avLst>
          </a:prstGeom>
          <a:solidFill>
            <a:srgbClr val="F2F0FF"/>
          </a:solidFill>
          <a:ln/>
          <a:effectLst>
            <a:outerShdw sx="100000" sy="100000" kx="0" ky="0" algn="bl" rotWithShape="0" blurRad="114300" dist="38100" dir="5400000">
              <a:srgbClr val="1A214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0" y="384048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711" y="3997391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382219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 like a real mission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132320" y="4224528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6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structure: systems engineering, reviews, documentation, verification. We learn industry methods by doing them.</a:t>
            </a:r>
            <a:endParaRPr lang="en-US" sz="1260" dirty="0"/>
          </a:p>
        </p:txBody>
      </p:sp>
      <p:sp>
        <p:nvSpPr>
          <p:cNvPr id="24" name="Text 18"/>
          <p:cNvSpPr/>
          <p:nvPr/>
        </p:nvSpPr>
        <p:spPr>
          <a:xfrm>
            <a:off x="566928" y="5760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scores: 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11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weights “Educational Return” at 30%. Theses, papers and skills-growth aren't a side effect — they are points on the scorecard.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QKD-Sat · UPC EETAC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CAN ACTUALLY GET SELECTED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our strengths to ESA's scorecard</a:t>
            </a:r>
            <a:endParaRPr lang="en-US" sz="3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783080"/>
          <a:ext cx="56692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783080"/>
            <a:ext cx="548640" cy="548640"/>
          </a:xfrm>
          <a:prstGeom prst="ellipse">
            <a:avLst/>
          </a:prstGeom>
          <a:solidFill>
            <a:srgbClr val="F2F0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446" y="1925726"/>
            <a:ext cx="263347" cy="2633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40880" y="174650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 Return (30%)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7040880" y="207568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2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TFGs, papers, a multidisciplinary team learning real space engineering.</a:t>
            </a:r>
            <a:endParaRPr lang="en-US" sz="1220" dirty="0"/>
          </a:p>
        </p:txBody>
      </p:sp>
      <p:sp>
        <p:nvSpPr>
          <p:cNvPr id="9" name="Shape 5"/>
          <p:cNvSpPr/>
          <p:nvPr/>
        </p:nvSpPr>
        <p:spPr>
          <a:xfrm>
            <a:off x="6400800" y="2862072"/>
            <a:ext cx="548640" cy="548640"/>
          </a:xfrm>
          <a:prstGeom prst="ellipse">
            <a:avLst/>
          </a:prstGeom>
          <a:solidFill>
            <a:srgbClr val="ECFE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446" y="3004718"/>
            <a:ext cx="263347" cy="2633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040880" y="282549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&amp; Mission (50%)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7040880" y="315468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2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proven-feasible quantum mission with clear novelty and the first-in-Spain angle.</a:t>
            </a:r>
            <a:endParaRPr lang="en-US" sz="1220" dirty="0"/>
          </a:p>
        </p:txBody>
      </p:sp>
      <p:sp>
        <p:nvSpPr>
          <p:cNvPr id="13" name="Shape 8"/>
          <p:cNvSpPr/>
          <p:nvPr/>
        </p:nvSpPr>
        <p:spPr>
          <a:xfrm>
            <a:off x="6400800" y="3941064"/>
            <a:ext cx="548640" cy="548640"/>
          </a:xfrm>
          <a:prstGeom prst="ellipse">
            <a:avLst/>
          </a:prstGeom>
          <a:solidFill>
            <a:srgbClr val="F2F0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446" y="4083710"/>
            <a:ext cx="263347" cy="26334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040880" y="39044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Organisation (20%)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7040880" y="4233672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2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 + NanoSat heritage + CTTC quantum experts behind us.</a:t>
            </a:r>
            <a:endParaRPr lang="en-US" sz="1220" dirty="0"/>
          </a:p>
        </p:txBody>
      </p:sp>
      <p:sp>
        <p:nvSpPr>
          <p:cNvPr id="17" name="Shape 11"/>
          <p:cNvSpPr/>
          <p:nvPr/>
        </p:nvSpPr>
        <p:spPr>
          <a:xfrm>
            <a:off x="6400800" y="5020056"/>
            <a:ext cx="548640" cy="548640"/>
          </a:xfrm>
          <a:prstGeom prst="ellipse">
            <a:avLst/>
          </a:prstGeom>
          <a:solidFill>
            <a:srgbClr val="ECFEF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3446" y="5162702"/>
            <a:ext cx="263347" cy="26334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040880" y="4983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Tie-break edge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7040880" y="5312664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2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teams get priority over those already in an ESA programme — that's us.</a:t>
            </a:r>
            <a:endParaRPr lang="en-US" sz="1220" dirty="0"/>
          </a:p>
        </p:txBody>
      </p:sp>
      <p:sp>
        <p:nvSpPr>
          <p:cNvPr id="21" name="Text 14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QKD-Sat · UPC EETAC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FOUNDING THE ASSOCIATION — START THIS WEEK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paperwork, in two steps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94960" cy="3703320"/>
          </a:xfrm>
          <a:prstGeom prst="roundRect">
            <a:avLst>
              <a:gd name="adj" fmla="val 2222"/>
            </a:avLst>
          </a:prstGeom>
          <a:solidFill>
            <a:srgbClr val="F2F0FF"/>
          </a:solidFill>
          <a:ln/>
          <a:effectLst>
            <a:outerShdw sx="100000" sy="100000" kx="0" ky="0" algn="bl" rotWithShape="0" blurRad="114300" dist="38100" dir="5400000">
              <a:srgbClr val="1A214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38528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159" y="2095439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19842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· Generalitat (legal birth)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68680" y="2514600"/>
            <a:ext cx="4892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6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3 founders. Prepare: acta fundacional + estatuts (use the official model) + the inscription form.</a:t>
            </a:r>
            <a:endParaRPr lang="en-US" sz="126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6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online with a digital certificate — that's a 50% discount on the fee (≈ €31 instead of €62.55).</a:t>
            </a:r>
            <a:endParaRPr lang="en-US" sz="126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6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 legally up to 3 months, in practice often ~6 weeks. Silence = approved.</a:t>
            </a:r>
            <a:endParaRPr lang="en-US" sz="126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6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gives legal personality + lets us request a NIF and open a bank account.</a:t>
            </a:r>
            <a:endParaRPr lang="en-US" sz="1260" dirty="0"/>
          </a:p>
        </p:txBody>
      </p:sp>
      <p:sp>
        <p:nvSpPr>
          <p:cNvPr id="9" name="Text 6"/>
          <p:cNvSpPr/>
          <p:nvPr/>
        </p:nvSpPr>
        <p:spPr>
          <a:xfrm>
            <a:off x="868680" y="4937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tramits.gencat.cat → “Inscriure una associació”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36208" y="1691640"/>
            <a:ext cx="5394960" cy="3703320"/>
          </a:xfrm>
          <a:prstGeom prst="roundRect">
            <a:avLst>
              <a:gd name="adj" fmla="val 2222"/>
            </a:avLst>
          </a:prstGeom>
          <a:solidFill>
            <a:srgbClr val="ECFEFF"/>
          </a:solidFill>
          <a:ln/>
          <a:effectLst>
            <a:outerShdw sx="100000" sy="100000" kx="0" ky="0" algn="bl" rotWithShape="0" blurRad="114300" dist="38100" dir="5400000">
              <a:srgbClr val="1A214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10528" y="1938528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439" y="2095439"/>
            <a:ext cx="289682" cy="2896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42048" y="19842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· UPC registry (after step 1)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537960" y="2514600"/>
            <a:ext cx="4892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6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prior Generalitat inscription. Need ≥ 70% of board &amp; members from the UPC community (we qualify).</a:t>
            </a:r>
            <a:endParaRPr lang="en-US" sz="126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6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via the UPC e-registry: form + declaració responsable (fitxa) + copy of acta + estatuts.</a:t>
            </a:r>
            <a:endParaRPr lang="en-US" sz="126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6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definitive when approved by the Consell de Govern (it meets periodically — ask the calendar).</a:t>
            </a:r>
            <a:endParaRPr lang="en-US" sz="126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6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UPC funding calls, space and collaboration agreements (no legal personality on its own).</a:t>
            </a:r>
            <a:endParaRPr lang="en-US" sz="1260" dirty="0"/>
          </a:p>
        </p:txBody>
      </p:sp>
      <p:sp>
        <p:nvSpPr>
          <p:cNvPr id="15" name="Text 11"/>
          <p:cNvSpPr/>
          <p:nvPr/>
        </p:nvSpPr>
        <p:spPr>
          <a:xfrm>
            <a:off x="6537960" y="493776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upc.edu/ca/la-upc/associacions/registre-dassociacions · ajuts.associacions@upc.edu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66928" y="55778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in parallel with finding the professor.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11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association is NOT required to apply to DB3 (that needs the professor's endorsement) — but it's what unlocks UPC funding and standing, so we start both now.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QKD-Sat · UPC EETAC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39728" y="1051560"/>
            <a:ext cx="109728" cy="109728"/>
          </a:xfrm>
          <a:prstGeom prst="ellipse">
            <a:avLst/>
          </a:prstGeom>
          <a:solidFill>
            <a:srgbClr val="27D3EE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868912" y="2286000"/>
            <a:ext cx="77724" cy="77724"/>
          </a:xfrm>
          <a:prstGeom prst="ellipse">
            <a:avLst/>
          </a:prstGeom>
          <a:solidFill>
            <a:srgbClr val="27D3EE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503152" y="3611880"/>
            <a:ext cx="100584" cy="100584"/>
          </a:xfrm>
          <a:prstGeom prst="ellipse">
            <a:avLst/>
          </a:prstGeom>
          <a:solidFill>
            <a:srgbClr val="27D3EE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841480" y="4800600"/>
            <a:ext cx="77724" cy="77724"/>
          </a:xfrm>
          <a:prstGeom prst="ellipse">
            <a:avLst/>
          </a:prstGeom>
          <a:solidFill>
            <a:srgbClr val="27D3EE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3291840"/>
            <a:ext cx="91440" cy="91440"/>
          </a:xfrm>
          <a:prstGeom prst="ellipse">
            <a:avLst/>
          </a:prstGeom>
          <a:solidFill>
            <a:srgbClr val="27D3EE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10896" y="4846320"/>
            <a:ext cx="73152" cy="73152"/>
          </a:xfrm>
          <a:prstGeom prst="ellipse">
            <a:avLst/>
          </a:prstGeom>
          <a:solidFill>
            <a:srgbClr val="27D3EE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012680" y="420624"/>
            <a:ext cx="64008" cy="64008"/>
          </a:xfrm>
          <a:prstGeom prst="ellipse">
            <a:avLst/>
          </a:prstGeom>
          <a:solidFill>
            <a:srgbClr val="27D3EE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7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IN IT FOR US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launchpad for our careers</a:t>
            </a:r>
            <a:endParaRPr lang="en-US" sz="3100" dirty="0"/>
          </a:p>
        </p:txBody>
      </p:sp>
      <p:sp>
        <p:nvSpPr>
          <p:cNvPr id="11" name="Shape 9"/>
          <p:cNvSpPr/>
          <p:nvPr/>
        </p:nvSpPr>
        <p:spPr>
          <a:xfrm>
            <a:off x="566928" y="1691640"/>
            <a:ext cx="5321808" cy="1572768"/>
          </a:xfrm>
          <a:prstGeom prst="roundRect">
            <a:avLst>
              <a:gd name="adj" fmla="val 5233"/>
            </a:avLst>
          </a:prstGeom>
          <a:solidFill>
            <a:srgbClr val="151E45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1965960"/>
            <a:ext cx="603504" cy="603504"/>
          </a:xfrm>
          <a:prstGeom prst="ellipse">
            <a:avLst/>
          </a:prstGeom>
          <a:solidFill>
            <a:srgbClr val="0B1437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871" y="2122871"/>
            <a:ext cx="289682" cy="28968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572768" y="191109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ESA's own goal is employability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1572768" y="2295144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3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Education exists to build the human capital of the European space sector — it's literally designed to push students into space careers.</a:t>
            </a:r>
            <a:endParaRPr lang="en-US" sz="1230" dirty="0"/>
          </a:p>
        </p:txBody>
      </p:sp>
      <p:sp>
        <p:nvSpPr>
          <p:cNvPr id="16" name="Shape 13"/>
          <p:cNvSpPr/>
          <p:nvPr/>
        </p:nvSpPr>
        <p:spPr>
          <a:xfrm>
            <a:off x="6126480" y="1691640"/>
            <a:ext cx="5321808" cy="1572768"/>
          </a:xfrm>
          <a:prstGeom prst="roundRect">
            <a:avLst>
              <a:gd name="adj" fmla="val 5233"/>
            </a:avLst>
          </a:prstGeom>
          <a:solidFill>
            <a:srgbClr val="151E45"/>
          </a:solidFill>
          <a:ln/>
        </p:spPr>
      </p:sp>
      <p:sp>
        <p:nvSpPr>
          <p:cNvPr id="17" name="Shape 14"/>
          <p:cNvSpPr/>
          <p:nvPr/>
        </p:nvSpPr>
        <p:spPr>
          <a:xfrm>
            <a:off x="6382512" y="1965960"/>
            <a:ext cx="603504" cy="603504"/>
          </a:xfrm>
          <a:prstGeom prst="ellipse">
            <a:avLst/>
          </a:prstGeom>
          <a:solidFill>
            <a:srgbClr val="0B1437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9423" y="2122871"/>
            <a:ext cx="289682" cy="28968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132320" y="191109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projects feed ESA &amp; industry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7132320" y="2295144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3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 do hands-on ESA satellite programmes routinely end up working at ESA and across European space companies.</a:t>
            </a:r>
            <a:endParaRPr lang="en-US" sz="1230" dirty="0"/>
          </a:p>
        </p:txBody>
      </p:sp>
      <p:sp>
        <p:nvSpPr>
          <p:cNvPr id="21" name="Shape 17"/>
          <p:cNvSpPr/>
          <p:nvPr/>
        </p:nvSpPr>
        <p:spPr>
          <a:xfrm>
            <a:off x="566928" y="3474720"/>
            <a:ext cx="5321808" cy="1572768"/>
          </a:xfrm>
          <a:prstGeom prst="roundRect">
            <a:avLst>
              <a:gd name="adj" fmla="val 5233"/>
            </a:avLst>
          </a:prstGeom>
          <a:solidFill>
            <a:srgbClr val="151E45"/>
          </a:solidFill>
          <a:ln/>
        </p:spPr>
      </p:sp>
      <p:sp>
        <p:nvSpPr>
          <p:cNvPr id="22" name="Shape 18"/>
          <p:cNvSpPr/>
          <p:nvPr/>
        </p:nvSpPr>
        <p:spPr>
          <a:xfrm>
            <a:off x="822960" y="3749040"/>
            <a:ext cx="603504" cy="603504"/>
          </a:xfrm>
          <a:prstGeom prst="ellipse">
            <a:avLst/>
          </a:prstGeom>
          <a:solidFill>
            <a:srgbClr val="0B1437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871" y="3905951"/>
            <a:ext cx="289682" cy="28968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572768" y="369417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publication &amp; CV record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1572768" y="4078224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3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flight-relevant work, papers, and ESA standards experience — the kind of CV that opens doors and PhDs.</a:t>
            </a:r>
            <a:endParaRPr lang="en-US" sz="1230" dirty="0"/>
          </a:p>
        </p:txBody>
      </p:sp>
      <p:sp>
        <p:nvSpPr>
          <p:cNvPr id="26" name="Shape 21"/>
          <p:cNvSpPr/>
          <p:nvPr/>
        </p:nvSpPr>
        <p:spPr>
          <a:xfrm>
            <a:off x="6126480" y="3474720"/>
            <a:ext cx="5321808" cy="1572768"/>
          </a:xfrm>
          <a:prstGeom prst="roundRect">
            <a:avLst>
              <a:gd name="adj" fmla="val 5233"/>
            </a:avLst>
          </a:prstGeom>
          <a:solidFill>
            <a:srgbClr val="151E45"/>
          </a:solidFill>
          <a:ln/>
        </p:spPr>
      </p:sp>
      <p:sp>
        <p:nvSpPr>
          <p:cNvPr id="27" name="Shape 22"/>
          <p:cNvSpPr/>
          <p:nvPr/>
        </p:nvSpPr>
        <p:spPr>
          <a:xfrm>
            <a:off x="6382512" y="3749040"/>
            <a:ext cx="603504" cy="603504"/>
          </a:xfrm>
          <a:prstGeom prst="ellipse">
            <a:avLst/>
          </a:prstGeom>
          <a:solidFill>
            <a:srgbClr val="0B1437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9423" y="3905951"/>
            <a:ext cx="289682" cy="28968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132320" y="369417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network across Europe</a:t>
            </a:r>
            <a:endParaRPr lang="en-US" sz="1450" dirty="0"/>
          </a:p>
        </p:txBody>
      </p:sp>
      <p:sp>
        <p:nvSpPr>
          <p:cNvPr id="30" name="Text 24"/>
          <p:cNvSpPr/>
          <p:nvPr/>
        </p:nvSpPr>
        <p:spPr>
          <a:xfrm>
            <a:off x="7132320" y="4078224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3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Mentors, ESA specialists, CTTC/ICFO researchers and industry contacts — in the hottest area of EU tech right now.</a:t>
            </a:r>
            <a:endParaRPr lang="en-US" sz="1230" dirty="0"/>
          </a:p>
        </p:txBody>
      </p:sp>
      <p:sp>
        <p:nvSpPr>
          <p:cNvPr id="31" name="Text 25"/>
          <p:cNvSpPr/>
          <p:nvPr/>
        </p:nvSpPr>
        <p:spPr>
          <a:xfrm>
            <a:off x="566928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satellite that flies on a European rocket while you're still a student. That sentence alone changes a career.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QKD-Sat · UPC EETAC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— LET'S MOVE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1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action plan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321808" cy="1097280"/>
          </a:xfrm>
          <a:prstGeom prst="roundRect">
            <a:avLst>
              <a:gd name="adj" fmla="val 7500"/>
            </a:avLst>
          </a:prstGeom>
          <a:solidFill>
            <a:srgbClr val="F2F0FF"/>
          </a:solidFill>
          <a:ln/>
          <a:effectLst>
            <a:outerShdw sx="100000" sy="100000" kx="0" ky="0" algn="bl" rotWithShape="0" blurRad="114300" dist="38100" dir="5400000">
              <a:srgbClr val="1A214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9339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073" y="2140793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188366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481328" y="2139696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6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 off the association paperwork (Generalitat step 1) and draft the estatuts.</a:t>
            </a:r>
            <a:endParaRPr lang="en-US" sz="1260" dirty="0"/>
          </a:p>
        </p:txBody>
      </p:sp>
      <p:sp>
        <p:nvSpPr>
          <p:cNvPr id="9" name="Shape 6"/>
          <p:cNvSpPr/>
          <p:nvPr/>
        </p:nvSpPr>
        <p:spPr>
          <a:xfrm>
            <a:off x="6126480" y="1737360"/>
            <a:ext cx="5321808" cy="1097280"/>
          </a:xfrm>
          <a:prstGeom prst="roundRect">
            <a:avLst>
              <a:gd name="adj" fmla="val 7500"/>
            </a:avLst>
          </a:prstGeom>
          <a:solidFill>
            <a:srgbClr val="ECFEFF"/>
          </a:solidFill>
          <a:ln/>
          <a:effectLst>
            <a:outerShdw sx="100000" sy="100000" kx="0" ky="0" algn="bl" rotWithShape="0" blurRad="114300" dist="38100" dir="5400000">
              <a:srgbClr val="1A214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64224" y="199339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625" y="2140793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188366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040880" y="2139696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6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in an endorsing professor + a master/PhD/assistant for team-lead / system-engineer.</a:t>
            </a:r>
            <a:endParaRPr lang="en-US" sz="1260" dirty="0"/>
          </a:p>
        </p:txBody>
      </p:sp>
      <p:sp>
        <p:nvSpPr>
          <p:cNvPr id="14" name="Shape 10"/>
          <p:cNvSpPr/>
          <p:nvPr/>
        </p:nvSpPr>
        <p:spPr>
          <a:xfrm>
            <a:off x="566928" y="3017520"/>
            <a:ext cx="5321808" cy="1097280"/>
          </a:xfrm>
          <a:prstGeom prst="roundRect">
            <a:avLst>
              <a:gd name="adj" fmla="val 7500"/>
            </a:avLst>
          </a:prstGeom>
          <a:solidFill>
            <a:srgbClr val="F2F0FF"/>
          </a:solidFill>
          <a:ln/>
          <a:effectLst>
            <a:outerShdw sx="100000" sy="100000" kx="0" ky="0" algn="bl" rotWithShape="0" blurRad="114300" dist="38100" dir="5400000">
              <a:srgbClr val="1A214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27355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073" y="3420953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81328" y="316382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1481328" y="3419856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6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6+ members across disciplines; confirm the writing/papers core.</a:t>
            </a:r>
            <a:endParaRPr lang="en-US" sz="1260" dirty="0"/>
          </a:p>
        </p:txBody>
      </p:sp>
      <p:sp>
        <p:nvSpPr>
          <p:cNvPr id="19" name="Shape 14"/>
          <p:cNvSpPr/>
          <p:nvPr/>
        </p:nvSpPr>
        <p:spPr>
          <a:xfrm>
            <a:off x="6126480" y="3017520"/>
            <a:ext cx="5321808" cy="1097280"/>
          </a:xfrm>
          <a:prstGeom prst="roundRect">
            <a:avLst>
              <a:gd name="adj" fmla="val 7500"/>
            </a:avLst>
          </a:prstGeom>
          <a:solidFill>
            <a:srgbClr val="ECFEFF"/>
          </a:solidFill>
          <a:ln/>
          <a:effectLst>
            <a:outerShdw sx="100000" sy="100000" kx="0" ky="0" algn="bl" rotWithShape="0" blurRad="114300" dist="38100" dir="5400000">
              <a:srgbClr val="1A214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64224" y="327355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625" y="3420953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316382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1–2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7040880" y="3419856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6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CTTC (quantum) and check NanoSat Lab's DB3 plans to avoid the one-proposal clash.</a:t>
            </a:r>
            <a:endParaRPr lang="en-US" sz="1260" dirty="0"/>
          </a:p>
        </p:txBody>
      </p:sp>
      <p:sp>
        <p:nvSpPr>
          <p:cNvPr id="24" name="Shape 18"/>
          <p:cNvSpPr/>
          <p:nvPr/>
        </p:nvSpPr>
        <p:spPr>
          <a:xfrm>
            <a:off x="566928" y="4297680"/>
            <a:ext cx="5321808" cy="1097280"/>
          </a:xfrm>
          <a:prstGeom prst="roundRect">
            <a:avLst>
              <a:gd name="adj" fmla="val 7500"/>
            </a:avLst>
          </a:prstGeom>
          <a:solidFill>
            <a:srgbClr val="F2F0FF"/>
          </a:solidFill>
          <a:ln/>
          <a:effectLst>
            <a:outerShdw sx="100000" sy="100000" kx="0" ky="0" algn="bl" rotWithShape="0" blurRad="114300" dist="38100" dir="5400000">
              <a:srgbClr val="1A2140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4672" y="455371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073" y="4701113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81328" y="44439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1–2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1481328" y="4700016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6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on ESA Learn; request the proposal template, T&amp;Cs and the Young NAV ideas paper.</a:t>
            </a:r>
            <a:endParaRPr lang="en-US" sz="1260" dirty="0"/>
          </a:p>
        </p:txBody>
      </p:sp>
      <p:sp>
        <p:nvSpPr>
          <p:cNvPr id="29" name="Shape 22"/>
          <p:cNvSpPr/>
          <p:nvPr/>
        </p:nvSpPr>
        <p:spPr>
          <a:xfrm>
            <a:off x="6126480" y="4297680"/>
            <a:ext cx="5321808" cy="1097280"/>
          </a:xfrm>
          <a:prstGeom prst="roundRect">
            <a:avLst>
              <a:gd name="adj" fmla="val 7500"/>
            </a:avLst>
          </a:prstGeom>
          <a:solidFill>
            <a:srgbClr val="ECFEFF"/>
          </a:solidFill>
          <a:ln/>
          <a:effectLst>
            <a:outerShdw sx="100000" sy="100000" kx="0" ky="0" algn="bl" rotWithShape="0" blurRad="114300" dist="38100" dir="5400000">
              <a:srgbClr val="1A2140">
                <a:alpha val="13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364224" y="455371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1625" y="4701113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40880" y="44439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SEPTEMBER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7040880" y="4700016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60" dirty="0">
                <a:solidFill>
                  <a:srgbClr val="32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Satellite Proposal; line up UPC funding letter / support; before-July: present the association.</a:t>
            </a:r>
            <a:endParaRPr lang="en-US" sz="1260" dirty="0"/>
          </a:p>
        </p:txBody>
      </p:sp>
      <p:sp>
        <p:nvSpPr>
          <p:cNvPr id="34" name="Shape 26"/>
          <p:cNvSpPr/>
          <p:nvPr/>
        </p:nvSpPr>
        <p:spPr>
          <a:xfrm>
            <a:off x="566928" y="5669280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151E45"/>
          </a:solidFill>
          <a:ln/>
        </p:spPr>
      </p:sp>
      <p:sp>
        <p:nvSpPr>
          <p:cNvPr id="35" name="Text 27"/>
          <p:cNvSpPr/>
          <p:nvPr/>
        </p:nvSpPr>
        <p:spPr>
          <a:xfrm>
            <a:off x="868680" y="573328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7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idea + perfect timing + UPC &amp; ESA backing. If we start now, we get selected, build real space hardware, and put our names on papers and on ESA's radar.</a:t>
            </a:r>
            <a:endParaRPr lang="en-US" sz="1350" dirty="0"/>
          </a:p>
        </p:txBody>
      </p:sp>
      <p:sp>
        <p:nvSpPr>
          <p:cNvPr id="36" name="Text 28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QKD-Sat · UPC EETAC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39728" y="1051560"/>
            <a:ext cx="109728" cy="109728"/>
          </a:xfrm>
          <a:prstGeom prst="ellipse">
            <a:avLst/>
          </a:prstGeom>
          <a:solidFill>
            <a:srgbClr val="27D3EE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868912" y="2286000"/>
            <a:ext cx="77724" cy="77724"/>
          </a:xfrm>
          <a:prstGeom prst="ellipse">
            <a:avLst/>
          </a:prstGeom>
          <a:solidFill>
            <a:srgbClr val="27D3EE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503152" y="3611880"/>
            <a:ext cx="100584" cy="100584"/>
          </a:xfrm>
          <a:prstGeom prst="ellipse">
            <a:avLst/>
          </a:prstGeom>
          <a:solidFill>
            <a:srgbClr val="27D3EE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841480" y="4800600"/>
            <a:ext cx="77724" cy="77724"/>
          </a:xfrm>
          <a:prstGeom prst="ellipse">
            <a:avLst/>
          </a:prstGeom>
          <a:solidFill>
            <a:srgbClr val="27D3EE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3291840"/>
            <a:ext cx="91440" cy="91440"/>
          </a:xfrm>
          <a:prstGeom prst="ellipse">
            <a:avLst/>
          </a:prstGeom>
          <a:solidFill>
            <a:srgbClr val="27D3EE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10896" y="4846320"/>
            <a:ext cx="73152" cy="73152"/>
          </a:xfrm>
          <a:prstGeom prst="ellipse">
            <a:avLst/>
          </a:prstGeom>
          <a:solidFill>
            <a:srgbClr val="27D3EE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012680" y="420624"/>
            <a:ext cx="64008" cy="64008"/>
          </a:xfrm>
          <a:prstGeom prst="ellipse">
            <a:avLst/>
          </a:prstGeom>
          <a:solidFill>
            <a:srgbClr val="27D3EE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links &amp; contacts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151E45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581912"/>
            <a:ext cx="219456" cy="21945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34440" y="142646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DB3 proposal instructions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852160" y="142646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esa.int/Education/Educational_Satellites/Design_Booster_Proposal_Instructions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" y="2066544"/>
            <a:ext cx="457200" cy="457200"/>
          </a:xfrm>
          <a:prstGeom prst="ellipse">
            <a:avLst/>
          </a:prstGeom>
          <a:solidFill>
            <a:srgbClr val="151E45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185416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34440" y="20299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on ESA Learn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852160" y="202996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learn.esa.int/fys/explore/design-booster-3-proposal-submission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40080" y="2670048"/>
            <a:ext cx="457200" cy="457200"/>
          </a:xfrm>
          <a:prstGeom prst="ellipse">
            <a:avLst/>
          </a:prstGeom>
          <a:solidFill>
            <a:srgbClr val="151E4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788920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34440" y="26334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Generalitat — register an association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852160" y="263347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tramits.gencat.cat → “Inscriure una associació”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40080" y="3273552"/>
            <a:ext cx="457200" cy="457200"/>
          </a:xfrm>
          <a:prstGeom prst="ellipse">
            <a:avLst/>
          </a:prstGeom>
          <a:solidFill>
            <a:srgbClr val="151E45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392424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34440" y="323697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 association registry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852160" y="323697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upc.edu/ca/la-upc/associacions/registre-dassociacions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640080" y="3877056"/>
            <a:ext cx="457200" cy="457200"/>
          </a:xfrm>
          <a:prstGeom prst="ellipse">
            <a:avLst/>
          </a:prstGeom>
          <a:solidFill>
            <a:srgbClr val="151E4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3995928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234440" y="38404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AGAUR — student-association grants (AEU)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5852160" y="38404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agaur.gencat.cat → “Ajuts AEU”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640080" y="4480560"/>
            <a:ext cx="457200" cy="457200"/>
          </a:xfrm>
          <a:prstGeom prst="ellipse">
            <a:avLst/>
          </a:prstGeom>
          <a:solidFill>
            <a:srgbClr val="151E45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4599432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234440" y="444398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ESA contact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5852160" y="444398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cubesats@esa.int</a:t>
            </a:r>
            <a:endParaRPr lang="en-US" sz="1250" dirty="0"/>
          </a:p>
        </p:txBody>
      </p:sp>
      <p:sp>
        <p:nvSpPr>
          <p:cNvPr id="34" name="Shape 26"/>
          <p:cNvSpPr/>
          <p:nvPr/>
        </p:nvSpPr>
        <p:spPr>
          <a:xfrm>
            <a:off x="640080" y="5084064"/>
            <a:ext cx="457200" cy="457200"/>
          </a:xfrm>
          <a:prstGeom prst="ellipse">
            <a:avLst/>
          </a:prstGeom>
          <a:solidFill>
            <a:srgbClr val="151E45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" y="5202936"/>
            <a:ext cx="219456" cy="219456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234440" y="504748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 associations contact</a:t>
            </a:r>
            <a:endParaRPr lang="en-US" sz="1400" dirty="0"/>
          </a:p>
        </p:txBody>
      </p:sp>
      <p:sp>
        <p:nvSpPr>
          <p:cNvPr id="37" name="Text 28"/>
          <p:cNvSpPr/>
          <p:nvPr/>
        </p:nvSpPr>
        <p:spPr>
          <a:xfrm>
            <a:off x="5852160" y="504748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ajuts.associacions@upc.edu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566928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Deadline: 2 October 2026, 13:00 CEST  ·  Let's not miss it.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40" name="Text 31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QKD-Sat · UPC EETAC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Satellite for ESA Fly Your Satellite — UPC</dc:title>
  <dc:subject>PptxGenJS Presentation</dc:subject>
  <dc:creator>UPC EETAC — Quantum SatComms team</dc:creator>
  <cp:lastModifiedBy>UPC EETAC — Quantum SatComms team</cp:lastModifiedBy>
  <cp:revision>1</cp:revision>
  <dcterms:created xsi:type="dcterms:W3CDTF">2026-06-22T18:03:47Z</dcterms:created>
  <dcterms:modified xsi:type="dcterms:W3CDTF">2026-06-22T18:03:47Z</dcterms:modified>
</cp:coreProperties>
</file>